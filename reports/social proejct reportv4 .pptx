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26" autoAdjust="0"/>
    <p:restoredTop sz="94660"/>
  </p:normalViewPr>
  <p:slideViewPr>
    <p:cSldViewPr snapToGrid="0">
      <p:cViewPr varScale="1">
        <p:scale>
          <a:sx n="69" d="100"/>
          <a:sy n="69" d="100"/>
        </p:scale>
        <p:origin x="47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2005705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1528596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235344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9E11220-FB41-4CE3-B3EE-68B9EEF0BE4F}" type="datetimeFigureOut">
              <a:rPr lang="en-US" smtClean="0"/>
              <a:t>12/15/2023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3926858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9E11220-FB41-4CE3-B3EE-68B9EEF0BE4F}" type="datetimeFigureOut">
              <a:rPr lang="en-US" smtClean="0"/>
              <a:t>12/15/2023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2021695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9E11220-FB41-4CE3-B3EE-68B9EEF0BE4F}" type="datetimeFigureOut">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1132813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E11220-FB41-4CE3-B3EE-68B9EEF0BE4F}" type="datetimeFigureOut">
              <a:rPr lang="en-US" smtClean="0"/>
              <a:t>12/15/2023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4110638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9E11220-FB41-4CE3-B3EE-68B9EEF0BE4F}" type="datetimeFigureOut">
              <a:rPr lang="en-US" smtClean="0"/>
              <a:t>12/15/2023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1402955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9E11220-FB41-4CE3-B3EE-68B9EEF0BE4F}" type="datetimeFigureOut">
              <a:rPr lang="en-US" smtClean="0"/>
              <a:t>12/15/2023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2794605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224835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38494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3569687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679155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1135928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1271334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E11220-FB41-4CE3-B3EE-68B9EEF0BE4F}" type="datetimeFigureOut">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23E8E-ABBB-4349-973A-152AEF2114A5}" type="slidenum">
              <a:rPr lang="en-US" smtClean="0"/>
              <a:t>‹#›</a:t>
            </a:fld>
            <a:endParaRPr lang="en-US"/>
          </a:p>
        </p:txBody>
      </p:sp>
    </p:spTree>
    <p:extLst>
      <p:ext uri="{BB962C8B-B14F-4D97-AF65-F5344CB8AC3E}">
        <p14:creationId xmlns:p14="http://schemas.microsoft.com/office/powerpoint/2010/main" val="3440143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E11220-FB41-4CE3-B3EE-68B9EEF0BE4F}" type="datetimeFigureOut">
              <a:rPr lang="en-US" smtClean="0"/>
              <a:t>12/15/2023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2C23E8E-ABBB-4349-973A-152AEF2114A5}" type="slidenum">
              <a:rPr lang="en-US" smtClean="0"/>
              <a:t>‹#›</a:t>
            </a:fld>
            <a:endParaRPr lang="en-US"/>
          </a:p>
        </p:txBody>
      </p:sp>
    </p:spTree>
    <p:extLst>
      <p:ext uri="{BB962C8B-B14F-4D97-AF65-F5344CB8AC3E}">
        <p14:creationId xmlns:p14="http://schemas.microsoft.com/office/powerpoint/2010/main" val="6517786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drive.google.com/drive/folders/1qXq0b4ASyxkImgj_3dSosGPv1hfMfMnn?usp=sharin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1849" y="1579417"/>
            <a:ext cx="9160934" cy="2457563"/>
          </a:xfrm>
        </p:spPr>
        <p:txBody>
          <a:bodyPr/>
          <a:lstStyle/>
          <a:p>
            <a:pPr algn="ctr"/>
            <a:r>
              <a:rPr lang="en-US" b="1" dirty="0" smtClean="0"/>
              <a:t>Social </a:t>
            </a:r>
            <a:r>
              <a:rPr lang="en-US" b="1" dirty="0"/>
              <a:t>network analysis on proteins interactions in the human </a:t>
            </a:r>
            <a:r>
              <a:rPr lang="en-US" b="1" dirty="0" smtClean="0"/>
              <a:t>body</a:t>
            </a:r>
            <a:endParaRPr lang="en-US" b="1" dirty="0"/>
          </a:p>
        </p:txBody>
      </p:sp>
      <p:sp>
        <p:nvSpPr>
          <p:cNvPr id="4" name="Title 1"/>
          <p:cNvSpPr txBox="1">
            <a:spLocks/>
          </p:cNvSpPr>
          <p:nvPr/>
        </p:nvSpPr>
        <p:spPr>
          <a:xfrm>
            <a:off x="1908848" y="4308762"/>
            <a:ext cx="7766936" cy="836581"/>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smtClean="0">
                <a:solidFill>
                  <a:schemeClr val="accent2">
                    <a:lumMod val="50000"/>
                  </a:schemeClr>
                </a:solidFill>
              </a:rPr>
              <a:t>Project Report</a:t>
            </a:r>
            <a:endParaRPr lang="en-US" b="1" dirty="0">
              <a:solidFill>
                <a:schemeClr val="accent2">
                  <a:lumMod val="50000"/>
                </a:schemeClr>
              </a:solidFill>
            </a:endParaRPr>
          </a:p>
        </p:txBody>
      </p:sp>
    </p:spTree>
    <p:extLst>
      <p:ext uri="{BB962C8B-B14F-4D97-AF65-F5344CB8AC3E}">
        <p14:creationId xmlns:p14="http://schemas.microsoft.com/office/powerpoint/2010/main" val="14531525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15637"/>
            <a:ext cx="8596668" cy="651164"/>
          </a:xfrm>
        </p:spPr>
        <p:txBody>
          <a:bodyPr/>
          <a:lstStyle/>
          <a:p>
            <a:r>
              <a:rPr lang="en-US" b="1" dirty="0"/>
              <a:t>- Aim: </a:t>
            </a:r>
            <a:endParaRPr lang="en-US" dirty="0"/>
          </a:p>
        </p:txBody>
      </p:sp>
      <p:sp>
        <p:nvSpPr>
          <p:cNvPr id="3" name="Content Placeholder 2"/>
          <p:cNvSpPr>
            <a:spLocks noGrp="1"/>
          </p:cNvSpPr>
          <p:nvPr>
            <p:ph idx="1"/>
          </p:nvPr>
        </p:nvSpPr>
        <p:spPr>
          <a:xfrm>
            <a:off x="677333" y="1066801"/>
            <a:ext cx="10447867" cy="2299854"/>
          </a:xfrm>
        </p:spPr>
        <p:txBody>
          <a:bodyPr/>
          <a:lstStyle/>
          <a:p>
            <a:pPr marL="0" indent="0">
              <a:buNone/>
            </a:pPr>
            <a:r>
              <a:rPr lang="en-US" sz="2400" b="1" dirty="0">
                <a:solidFill>
                  <a:schemeClr val="accent2">
                    <a:lumMod val="50000"/>
                  </a:schemeClr>
                </a:solidFill>
              </a:rPr>
              <a:t> The aim of this analysis is to see which proteins are the most important in the space (in the human body) and their role in fighting viruses and to study the interaction between them and visualize which of the nodes are more important in the proteins interaction network and we will use some of the measures and methods from our social network course</a:t>
            </a:r>
            <a:endParaRPr lang="en-US" sz="2400" dirty="0">
              <a:solidFill>
                <a:schemeClr val="accent2">
                  <a:lumMod val="50000"/>
                </a:schemeClr>
              </a:solidFill>
            </a:endParaRPr>
          </a:p>
          <a:p>
            <a:pPr marL="0" indent="0">
              <a:buNone/>
            </a:pPr>
            <a:endParaRPr lang="en-US" dirty="0"/>
          </a:p>
        </p:txBody>
      </p:sp>
      <p:sp>
        <p:nvSpPr>
          <p:cNvPr id="4" name="Title 1"/>
          <p:cNvSpPr txBox="1">
            <a:spLocks/>
          </p:cNvSpPr>
          <p:nvPr/>
        </p:nvSpPr>
        <p:spPr>
          <a:xfrm>
            <a:off x="677332" y="3366655"/>
            <a:ext cx="8596668" cy="65116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 Hypothesis:</a:t>
            </a:r>
            <a:endParaRPr lang="en-US" dirty="0"/>
          </a:p>
        </p:txBody>
      </p:sp>
      <p:sp>
        <p:nvSpPr>
          <p:cNvPr id="5" name="Content Placeholder 2"/>
          <p:cNvSpPr txBox="1">
            <a:spLocks/>
          </p:cNvSpPr>
          <p:nvPr/>
        </p:nvSpPr>
        <p:spPr>
          <a:xfrm>
            <a:off x="677333" y="4017819"/>
            <a:ext cx="10447867" cy="229985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We will use the node centrality analysis to see all four attributes of importance to each node, them being the degree centrality and the betweenness and closeness, and lastly the eigenvector which is the hardest one to get because it needs a bit more calculations and the project will go as follows</a:t>
            </a:r>
            <a:endParaRPr lang="en-US" dirty="0">
              <a:solidFill>
                <a:schemeClr val="accent2">
                  <a:lumMod val="50000"/>
                </a:schemeClr>
              </a:solidFill>
            </a:endParaRPr>
          </a:p>
        </p:txBody>
      </p:sp>
    </p:spTree>
    <p:extLst>
      <p:ext uri="{BB962C8B-B14F-4D97-AF65-F5344CB8AC3E}">
        <p14:creationId xmlns:p14="http://schemas.microsoft.com/office/powerpoint/2010/main" val="26894458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54182"/>
            <a:ext cx="8328121" cy="991713"/>
          </a:xfrm>
        </p:spPr>
        <p:txBody>
          <a:bodyPr>
            <a:normAutofit fontScale="90000"/>
          </a:bodyPr>
          <a:lstStyle/>
          <a:p>
            <a:r>
              <a:rPr lang="en-US" b="1" dirty="0"/>
              <a:t>- </a:t>
            </a:r>
            <a:r>
              <a:rPr lang="en-US" b="1" dirty="0" smtClean="0"/>
              <a:t>Materials and tools </a:t>
            </a:r>
            <a:r>
              <a:rPr lang="en-US" b="1" dirty="0"/>
              <a:t>we used for this project </a:t>
            </a:r>
            <a:r>
              <a:rPr lang="en-US" b="1" dirty="0" smtClean="0"/>
              <a:t>are:</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55054" y="1629279"/>
            <a:ext cx="1836233" cy="1662978"/>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5144" y="1959570"/>
            <a:ext cx="2854527" cy="100239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9667" y="1732332"/>
            <a:ext cx="2330995" cy="1456872"/>
          </a:xfrm>
          <a:prstGeom prst="rect">
            <a:avLst/>
          </a:prstGeom>
        </p:spPr>
      </p:pic>
      <p:sp>
        <p:nvSpPr>
          <p:cNvPr id="9" name="TextBox 8"/>
          <p:cNvSpPr txBox="1"/>
          <p:nvPr/>
        </p:nvSpPr>
        <p:spPr>
          <a:xfrm>
            <a:off x="2202873" y="4294909"/>
            <a:ext cx="184731" cy="369332"/>
          </a:xfrm>
          <a:prstGeom prst="rect">
            <a:avLst/>
          </a:prstGeom>
          <a:noFill/>
        </p:spPr>
        <p:txBody>
          <a:bodyPr wrap="none" rtlCol="0">
            <a:spAutoFit/>
          </a:bodyPr>
          <a:lstStyle/>
          <a:p>
            <a:endParaRPr lang="en-US" dirty="0"/>
          </a:p>
        </p:txBody>
      </p:sp>
      <p:sp>
        <p:nvSpPr>
          <p:cNvPr id="10" name="Title 1"/>
          <p:cNvSpPr txBox="1">
            <a:spLocks/>
          </p:cNvSpPr>
          <p:nvPr/>
        </p:nvSpPr>
        <p:spPr>
          <a:xfrm>
            <a:off x="955055" y="3417718"/>
            <a:ext cx="2633272" cy="3246318"/>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20000"/>
              </a:lnSpc>
            </a:pPr>
            <a:r>
              <a:rPr lang="en-US" sz="1800" b="1" dirty="0">
                <a:solidFill>
                  <a:schemeClr val="accent2">
                    <a:lumMod val="50000"/>
                  </a:schemeClr>
                </a:solidFill>
              </a:rPr>
              <a:t>Cytoscape: to visualize and to have the option if taking a subset when needed, and also for the ease of use since it has an interface</a:t>
            </a:r>
            <a:endParaRPr lang="en-US" sz="1800" dirty="0">
              <a:solidFill>
                <a:schemeClr val="accent2">
                  <a:lumMod val="50000"/>
                </a:schemeClr>
              </a:solidFill>
            </a:endParaRPr>
          </a:p>
        </p:txBody>
      </p:sp>
      <p:sp>
        <p:nvSpPr>
          <p:cNvPr id="11" name="Title 1"/>
          <p:cNvSpPr txBox="1">
            <a:spLocks/>
          </p:cNvSpPr>
          <p:nvPr/>
        </p:nvSpPr>
        <p:spPr>
          <a:xfrm>
            <a:off x="4383727" y="3417718"/>
            <a:ext cx="2517359" cy="3246318"/>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20000"/>
              </a:lnSpc>
            </a:pPr>
            <a:r>
              <a:rPr lang="en-US" sz="1800" b="1" dirty="0">
                <a:solidFill>
                  <a:schemeClr val="accent2">
                    <a:lumMod val="50000"/>
                  </a:schemeClr>
                </a:solidFill>
              </a:rPr>
              <a:t>R Studio: we will use R to make sure our calculations are correct and accurate and above all be able to get all the centrality attributes in case Cytoscape fails to do so</a:t>
            </a:r>
            <a:endParaRPr lang="en-US" sz="1800" dirty="0">
              <a:solidFill>
                <a:schemeClr val="accent2">
                  <a:lumMod val="50000"/>
                </a:schemeClr>
              </a:solidFill>
            </a:endParaRPr>
          </a:p>
        </p:txBody>
      </p:sp>
      <p:sp>
        <p:nvSpPr>
          <p:cNvPr id="12" name="Title 1"/>
          <p:cNvSpPr txBox="1">
            <a:spLocks/>
          </p:cNvSpPr>
          <p:nvPr/>
        </p:nvSpPr>
        <p:spPr>
          <a:xfrm>
            <a:off x="7696486" y="3417718"/>
            <a:ext cx="2517359" cy="3246318"/>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20000"/>
              </a:lnSpc>
            </a:pPr>
            <a:r>
              <a:rPr lang="en-US" sz="1800" b="1" dirty="0">
                <a:solidFill>
                  <a:schemeClr val="accent2">
                    <a:lumMod val="50000"/>
                  </a:schemeClr>
                </a:solidFill>
              </a:rPr>
              <a:t>As for excel: it’s just to view the files in a way everyone can read them and understand them</a:t>
            </a:r>
            <a:endParaRPr lang="en-US" sz="1800" dirty="0">
              <a:solidFill>
                <a:schemeClr val="accent2">
                  <a:lumMod val="50000"/>
                </a:schemeClr>
              </a:solidFill>
            </a:endParaRPr>
          </a:p>
        </p:txBody>
      </p:sp>
    </p:spTree>
    <p:extLst>
      <p:ext uri="{BB962C8B-B14F-4D97-AF65-F5344CB8AC3E}">
        <p14:creationId xmlns:p14="http://schemas.microsoft.com/office/powerpoint/2010/main" val="11544109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54182"/>
            <a:ext cx="8328121" cy="991713"/>
          </a:xfrm>
        </p:spPr>
        <p:txBody>
          <a:bodyPr>
            <a:normAutofit/>
          </a:bodyPr>
          <a:lstStyle/>
          <a:p>
            <a:r>
              <a:rPr lang="en-US" b="1" dirty="0" smtClean="0"/>
              <a:t>- What </a:t>
            </a:r>
            <a:r>
              <a:rPr lang="en-US" b="1" dirty="0"/>
              <a:t>will the programs do:</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55054" y="1629279"/>
            <a:ext cx="1836233" cy="1662978"/>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5144" y="1959570"/>
            <a:ext cx="2854527" cy="100239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89667" y="1732332"/>
            <a:ext cx="2330995" cy="1456872"/>
          </a:xfrm>
          <a:prstGeom prst="rect">
            <a:avLst/>
          </a:prstGeom>
        </p:spPr>
      </p:pic>
      <p:sp>
        <p:nvSpPr>
          <p:cNvPr id="9" name="TextBox 8"/>
          <p:cNvSpPr txBox="1"/>
          <p:nvPr/>
        </p:nvSpPr>
        <p:spPr>
          <a:xfrm>
            <a:off x="2202873" y="4294909"/>
            <a:ext cx="184731" cy="369332"/>
          </a:xfrm>
          <a:prstGeom prst="rect">
            <a:avLst/>
          </a:prstGeom>
          <a:noFill/>
        </p:spPr>
        <p:txBody>
          <a:bodyPr wrap="none" rtlCol="0">
            <a:spAutoFit/>
          </a:bodyPr>
          <a:lstStyle/>
          <a:p>
            <a:endParaRPr lang="en-US" dirty="0"/>
          </a:p>
        </p:txBody>
      </p:sp>
      <p:sp>
        <p:nvSpPr>
          <p:cNvPr id="10" name="Title 1"/>
          <p:cNvSpPr txBox="1">
            <a:spLocks/>
          </p:cNvSpPr>
          <p:nvPr/>
        </p:nvSpPr>
        <p:spPr>
          <a:xfrm>
            <a:off x="955055" y="3417718"/>
            <a:ext cx="2633272" cy="3246318"/>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20000"/>
              </a:lnSpc>
            </a:pPr>
            <a:r>
              <a:rPr lang="en-US" sz="2000" b="1" dirty="0">
                <a:solidFill>
                  <a:schemeClr val="accent2">
                    <a:lumMod val="50000"/>
                  </a:schemeClr>
                </a:solidFill>
              </a:rPr>
              <a:t>Cytoscape to open and visualize the XML file for future use, and to be able to make a subset of the network which in our case here is very massive</a:t>
            </a:r>
            <a:endParaRPr lang="en-US" sz="2000" dirty="0">
              <a:solidFill>
                <a:schemeClr val="accent2">
                  <a:lumMod val="50000"/>
                </a:schemeClr>
              </a:solidFill>
            </a:endParaRPr>
          </a:p>
        </p:txBody>
      </p:sp>
      <p:sp>
        <p:nvSpPr>
          <p:cNvPr id="11" name="Title 1"/>
          <p:cNvSpPr txBox="1">
            <a:spLocks/>
          </p:cNvSpPr>
          <p:nvPr/>
        </p:nvSpPr>
        <p:spPr>
          <a:xfrm>
            <a:off x="4383727" y="3417718"/>
            <a:ext cx="2517359" cy="3246318"/>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20000"/>
              </a:lnSpc>
            </a:pPr>
            <a:r>
              <a:rPr lang="en-US" sz="2000" b="1" dirty="0">
                <a:solidFill>
                  <a:schemeClr val="accent2">
                    <a:lumMod val="50000"/>
                  </a:schemeClr>
                </a:solidFill>
              </a:rPr>
              <a:t>In R Studio we used some outputs from Cytoscape to make </a:t>
            </a:r>
            <a:r>
              <a:rPr lang="en-US" sz="2000" b="1" dirty="0" smtClean="0">
                <a:solidFill>
                  <a:schemeClr val="accent2">
                    <a:lumMod val="50000"/>
                  </a:schemeClr>
                </a:solidFill>
              </a:rPr>
              <a:t>all </a:t>
            </a:r>
            <a:r>
              <a:rPr lang="en-US" sz="2000" b="1" dirty="0">
                <a:solidFill>
                  <a:schemeClr val="accent2">
                    <a:lumMod val="50000"/>
                  </a:schemeClr>
                </a:solidFill>
              </a:rPr>
              <a:t>the calculations needed and how to get the final output</a:t>
            </a:r>
            <a:endParaRPr lang="en-US" sz="2000" dirty="0">
              <a:solidFill>
                <a:schemeClr val="accent2">
                  <a:lumMod val="50000"/>
                </a:schemeClr>
              </a:solidFill>
            </a:endParaRPr>
          </a:p>
        </p:txBody>
      </p:sp>
      <p:sp>
        <p:nvSpPr>
          <p:cNvPr id="12" name="Title 1"/>
          <p:cNvSpPr txBox="1">
            <a:spLocks/>
          </p:cNvSpPr>
          <p:nvPr/>
        </p:nvSpPr>
        <p:spPr>
          <a:xfrm>
            <a:off x="7696486" y="3417718"/>
            <a:ext cx="2517359" cy="3246318"/>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120000"/>
              </a:lnSpc>
            </a:pPr>
            <a:r>
              <a:rPr lang="en-US" sz="1800" b="1" dirty="0">
                <a:solidFill>
                  <a:schemeClr val="accent2">
                    <a:lumMod val="50000"/>
                  </a:schemeClr>
                </a:solidFill>
              </a:rPr>
              <a:t>Excel will just show us the </a:t>
            </a:r>
            <a:r>
              <a:rPr lang="en-US" sz="1800" b="1" dirty="0" smtClean="0">
                <a:solidFill>
                  <a:schemeClr val="accent2">
                    <a:lumMod val="50000"/>
                  </a:schemeClr>
                </a:solidFill>
              </a:rPr>
              <a:t>results/output </a:t>
            </a:r>
            <a:r>
              <a:rPr lang="en-US" sz="1800" b="1" dirty="0">
                <a:solidFill>
                  <a:schemeClr val="accent2">
                    <a:lumMod val="50000"/>
                  </a:schemeClr>
                </a:solidFill>
              </a:rPr>
              <a:t>and gives a way to interact with them</a:t>
            </a:r>
            <a:endParaRPr lang="en-US" sz="1800" dirty="0">
              <a:solidFill>
                <a:schemeClr val="accent2">
                  <a:lumMod val="50000"/>
                </a:schemeClr>
              </a:solidFill>
            </a:endParaRPr>
          </a:p>
        </p:txBody>
      </p:sp>
    </p:spTree>
    <p:extLst>
      <p:ext uri="{BB962C8B-B14F-4D97-AF65-F5344CB8AC3E}">
        <p14:creationId xmlns:p14="http://schemas.microsoft.com/office/powerpoint/2010/main" val="37857727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1"/>
            <a:ext cx="8596668" cy="706582"/>
          </a:xfrm>
        </p:spPr>
        <p:txBody>
          <a:bodyPr>
            <a:normAutofit/>
          </a:bodyPr>
          <a:lstStyle/>
          <a:p>
            <a:r>
              <a:rPr lang="en-US" sz="4000" b="1" dirty="0" smtClean="0"/>
              <a:t>- Keep in mind!</a:t>
            </a:r>
            <a:endParaRPr lang="en-US" sz="4000" b="1" dirty="0"/>
          </a:p>
        </p:txBody>
      </p:sp>
      <p:sp>
        <p:nvSpPr>
          <p:cNvPr id="3" name="Content Placeholder 2"/>
          <p:cNvSpPr>
            <a:spLocks noGrp="1"/>
          </p:cNvSpPr>
          <p:nvPr>
            <p:ph idx="1"/>
          </p:nvPr>
        </p:nvSpPr>
        <p:spPr>
          <a:xfrm>
            <a:off x="677335" y="1551711"/>
            <a:ext cx="8743756" cy="4433454"/>
          </a:xfrm>
        </p:spPr>
        <p:txBody>
          <a:bodyPr>
            <a:normAutofit/>
          </a:bodyPr>
          <a:lstStyle/>
          <a:p>
            <a:pPr marL="0" indent="0">
              <a:buNone/>
            </a:pPr>
            <a:r>
              <a:rPr lang="en-US" sz="2400" b="1" dirty="0">
                <a:solidFill>
                  <a:schemeClr val="accent2">
                    <a:lumMod val="50000"/>
                  </a:schemeClr>
                </a:solidFill>
              </a:rPr>
              <a:t>For clarification: </a:t>
            </a:r>
            <a:r>
              <a:rPr lang="en-US" sz="2400" b="1" dirty="0" smtClean="0">
                <a:solidFill>
                  <a:schemeClr val="accent2">
                    <a:lumMod val="50000"/>
                  </a:schemeClr>
                </a:solidFill>
              </a:rPr>
              <a:t>Cytoscape </a:t>
            </a:r>
            <a:r>
              <a:rPr lang="en-US" sz="2400" b="1" dirty="0">
                <a:solidFill>
                  <a:schemeClr val="accent2">
                    <a:lumMod val="50000"/>
                  </a:schemeClr>
                </a:solidFill>
              </a:rPr>
              <a:t>can take care of showing the degree and betweenness and closeness but as mentioned before the eigenvector will need more steps and we will use R for </a:t>
            </a:r>
            <a:r>
              <a:rPr lang="en-US" sz="2400" b="1" dirty="0" smtClean="0">
                <a:solidFill>
                  <a:schemeClr val="accent2">
                    <a:lumMod val="50000"/>
                  </a:schemeClr>
                </a:solidFill>
              </a:rPr>
              <a:t>that</a:t>
            </a:r>
          </a:p>
          <a:p>
            <a:pPr marL="0" indent="0">
              <a:buNone/>
            </a:pPr>
            <a:endParaRPr lang="en-US" sz="2400" b="1" dirty="0">
              <a:solidFill>
                <a:schemeClr val="accent2">
                  <a:lumMod val="75000"/>
                </a:schemeClr>
              </a:solidFill>
            </a:endParaRPr>
          </a:p>
          <a:p>
            <a:pPr marL="0" indent="0">
              <a:buNone/>
            </a:pPr>
            <a:endParaRPr lang="en-US" sz="2400" b="1" dirty="0" smtClean="0">
              <a:solidFill>
                <a:schemeClr val="accent2">
                  <a:lumMod val="75000"/>
                </a:schemeClr>
              </a:solidFill>
            </a:endParaRPr>
          </a:p>
          <a:p>
            <a:pPr marL="0" indent="0">
              <a:buNone/>
            </a:pPr>
            <a:r>
              <a:rPr lang="en-US" sz="2400" b="1" dirty="0"/>
              <a:t>And with that we dive onto how we used our tools to analyze this </a:t>
            </a:r>
            <a:r>
              <a:rPr lang="en-US" sz="2400" b="1" dirty="0" smtClean="0"/>
              <a:t>dataset --</a:t>
            </a:r>
            <a:r>
              <a:rPr lang="en-US" sz="2400" b="1" dirty="0" smtClean="0">
                <a:sym typeface="Wingdings" panose="05000000000000000000" pitchFamily="2" charset="2"/>
              </a:rPr>
              <a:t>:</a:t>
            </a:r>
            <a:endParaRPr lang="en-US" sz="2400" dirty="0"/>
          </a:p>
          <a:p>
            <a:pPr marL="0" indent="0">
              <a:buNone/>
            </a:pPr>
            <a:endParaRPr lang="en-US" sz="2400" b="1" dirty="0" smtClean="0">
              <a:solidFill>
                <a:schemeClr val="accent2">
                  <a:lumMod val="75000"/>
                </a:schemeClr>
              </a:solidFill>
            </a:endParaRPr>
          </a:p>
        </p:txBody>
      </p:sp>
    </p:spTree>
    <p:extLst>
      <p:ext uri="{BB962C8B-B14F-4D97-AF65-F5344CB8AC3E}">
        <p14:creationId xmlns:p14="http://schemas.microsoft.com/office/powerpoint/2010/main" val="10514101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34291"/>
          </a:xfrm>
        </p:spPr>
        <p:txBody>
          <a:bodyPr>
            <a:normAutofit fontScale="90000"/>
          </a:bodyPr>
          <a:lstStyle/>
          <a:p>
            <a:r>
              <a:rPr lang="en-US" b="1" dirty="0" smtClean="0"/>
              <a:t>- What </a:t>
            </a:r>
            <a:r>
              <a:rPr lang="en-US" b="1" dirty="0"/>
              <a:t>the input of the program will be?</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343891"/>
            <a:ext cx="6469524" cy="2610214"/>
          </a:xfrm>
          <a:prstGeom prst="rect">
            <a:avLst/>
          </a:prstGeom>
          <a:ln>
            <a:noFill/>
          </a:ln>
          <a:effectLst>
            <a:softEdge rad="112500"/>
          </a:effectLst>
        </p:spPr>
      </p:pic>
      <p:sp>
        <p:nvSpPr>
          <p:cNvPr id="4" name="Title 1"/>
          <p:cNvSpPr txBox="1">
            <a:spLocks/>
          </p:cNvSpPr>
          <p:nvPr/>
        </p:nvSpPr>
        <p:spPr>
          <a:xfrm>
            <a:off x="1910389" y="3269673"/>
            <a:ext cx="8596668" cy="734291"/>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8" name="Title 1"/>
          <p:cNvSpPr txBox="1">
            <a:spLocks/>
          </p:cNvSpPr>
          <p:nvPr/>
        </p:nvSpPr>
        <p:spPr>
          <a:xfrm>
            <a:off x="677334" y="4321250"/>
            <a:ext cx="6970375" cy="160849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accent2">
                    <a:lumMod val="50000"/>
                  </a:schemeClr>
                </a:solidFill>
              </a:rPr>
              <a:t>The code that will convert the dataset file into readable Excel </a:t>
            </a:r>
            <a:r>
              <a:rPr lang="en-US" b="1" dirty="0" smtClean="0">
                <a:solidFill>
                  <a:schemeClr val="accent2">
                    <a:lumMod val="50000"/>
                  </a:schemeClr>
                </a:solidFill>
              </a:rPr>
              <a:t>files that will see shortly….</a:t>
            </a:r>
            <a:endParaRPr lang="en-US" dirty="0">
              <a:solidFill>
                <a:schemeClr val="accent2">
                  <a:lumMod val="50000"/>
                </a:schemeClr>
              </a:solidFill>
            </a:endParaRPr>
          </a:p>
        </p:txBody>
      </p:sp>
    </p:spTree>
    <p:extLst>
      <p:ext uri="{BB962C8B-B14F-4D97-AF65-F5344CB8AC3E}">
        <p14:creationId xmlns:p14="http://schemas.microsoft.com/office/powerpoint/2010/main" val="26955967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68037"/>
            <a:ext cx="8596668" cy="651163"/>
          </a:xfrm>
        </p:spPr>
        <p:txBody>
          <a:bodyPr>
            <a:normAutofit fontScale="90000"/>
          </a:bodyPr>
          <a:lstStyle/>
          <a:p>
            <a:r>
              <a:rPr lang="en-US" b="1" dirty="0" smtClean="0"/>
              <a:t>- What </a:t>
            </a:r>
            <a:r>
              <a:rPr lang="en-US" b="1" dirty="0"/>
              <a:t>the output of the programs will be?</a:t>
            </a:r>
            <a:endParaRPr lang="en-US" dirty="0"/>
          </a:p>
        </p:txBody>
      </p:sp>
      <p:sp>
        <p:nvSpPr>
          <p:cNvPr id="3" name="Content Placeholder 2"/>
          <p:cNvSpPr>
            <a:spLocks noGrp="1"/>
          </p:cNvSpPr>
          <p:nvPr>
            <p:ph idx="1"/>
          </p:nvPr>
        </p:nvSpPr>
        <p:spPr>
          <a:xfrm>
            <a:off x="677334" y="2132879"/>
            <a:ext cx="8596668" cy="3880773"/>
          </a:xfrm>
        </p:spPr>
        <p:txBody>
          <a:bodyPr>
            <a:normAutofit/>
          </a:bodyPr>
          <a:lstStyle/>
          <a:p>
            <a:pPr marL="0" indent="0">
              <a:buNone/>
            </a:pPr>
            <a:r>
              <a:rPr lang="en-US" sz="2800" b="1" dirty="0">
                <a:solidFill>
                  <a:schemeClr val="accent2">
                    <a:lumMod val="50000"/>
                  </a:schemeClr>
                </a:solidFill>
              </a:rPr>
              <a:t>Our data set contains biological interaction data specific to the organism Homo sapiens (human) and is formatted in the PSI-MI 2.5 standard for protein-protein interaction data exchange, and was made by </a:t>
            </a:r>
            <a:r>
              <a:rPr lang="en-US" sz="2800" b="1" dirty="0" err="1">
                <a:solidFill>
                  <a:schemeClr val="accent2">
                    <a:lumMod val="50000"/>
                  </a:schemeClr>
                </a:solidFill>
              </a:rPr>
              <a:t>BioGRID</a:t>
            </a:r>
            <a:endParaRPr lang="en-US" sz="2800" dirty="0">
              <a:solidFill>
                <a:schemeClr val="accent2">
                  <a:lumMod val="50000"/>
                </a:schemeClr>
              </a:solidFill>
            </a:endParaRPr>
          </a:p>
        </p:txBody>
      </p:sp>
      <p:sp>
        <p:nvSpPr>
          <p:cNvPr id="4" name="Content Placeholder 2"/>
          <p:cNvSpPr txBox="1">
            <a:spLocks/>
          </p:cNvSpPr>
          <p:nvPr/>
        </p:nvSpPr>
        <p:spPr>
          <a:xfrm>
            <a:off x="677334" y="1219201"/>
            <a:ext cx="8596668" cy="58189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400" b="1" dirty="0" smtClean="0">
                <a:solidFill>
                  <a:schemeClr val="accent2">
                    <a:lumMod val="50000"/>
                  </a:schemeClr>
                </a:solidFill>
              </a:rPr>
              <a:t>1. Data Description  </a:t>
            </a:r>
            <a:endParaRPr lang="en-US" sz="2400" dirty="0">
              <a:solidFill>
                <a:schemeClr val="accent2">
                  <a:lumMod val="50000"/>
                </a:schemeClr>
              </a:solidFill>
            </a:endParaRPr>
          </a:p>
        </p:txBody>
      </p:sp>
    </p:spTree>
    <p:extLst>
      <p:ext uri="{BB962C8B-B14F-4D97-AF65-F5344CB8AC3E}">
        <p14:creationId xmlns:p14="http://schemas.microsoft.com/office/powerpoint/2010/main" val="3688752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7309"/>
          </a:xfrm>
        </p:spPr>
        <p:txBody>
          <a:bodyPr>
            <a:normAutofit fontScale="90000"/>
          </a:bodyPr>
          <a:lstStyle/>
          <a:p>
            <a:r>
              <a:rPr lang="en-US" b="1" dirty="0"/>
              <a:t>Our project steps and methods</a:t>
            </a:r>
            <a:endParaRPr lang="en-US" dirty="0"/>
          </a:p>
        </p:txBody>
      </p:sp>
      <p:sp>
        <p:nvSpPr>
          <p:cNvPr id="3" name="Content Placeholder 2"/>
          <p:cNvSpPr>
            <a:spLocks noGrp="1"/>
          </p:cNvSpPr>
          <p:nvPr>
            <p:ph idx="1"/>
          </p:nvPr>
        </p:nvSpPr>
        <p:spPr>
          <a:xfrm>
            <a:off x="677334" y="1246910"/>
            <a:ext cx="8596668" cy="817418"/>
          </a:xfrm>
        </p:spPr>
        <p:txBody>
          <a:bodyPr>
            <a:noAutofit/>
          </a:bodyPr>
          <a:lstStyle/>
          <a:p>
            <a:pPr marL="0" indent="0">
              <a:buNone/>
            </a:pPr>
            <a:r>
              <a:rPr lang="en-US" sz="2400" b="1" dirty="0" smtClean="0">
                <a:solidFill>
                  <a:schemeClr val="accent2">
                    <a:lumMod val="50000"/>
                  </a:schemeClr>
                </a:solidFill>
              </a:rPr>
              <a:t>We </a:t>
            </a:r>
            <a:r>
              <a:rPr lang="en-US" sz="2400" b="1" dirty="0">
                <a:solidFill>
                  <a:schemeClr val="accent2">
                    <a:lumMod val="50000"/>
                  </a:schemeClr>
                </a:solidFill>
              </a:rPr>
              <a:t>imported the XML file to Cytoscape as a network and it looks </a:t>
            </a:r>
            <a:r>
              <a:rPr lang="en-US" sz="2400" b="1" dirty="0" smtClean="0">
                <a:solidFill>
                  <a:schemeClr val="accent2">
                    <a:lumMod val="50000"/>
                  </a:schemeClr>
                </a:solidFill>
              </a:rPr>
              <a:t>as such</a:t>
            </a:r>
            <a:endParaRPr lang="en-US" sz="2400" b="1" dirty="0">
              <a:solidFill>
                <a:schemeClr val="accent2">
                  <a:lumMod val="50000"/>
                </a:schemeClr>
              </a:solidFill>
            </a:endParaRPr>
          </a:p>
        </p:txBody>
      </p:sp>
      <p:sp>
        <p:nvSpPr>
          <p:cNvPr id="4" name="Content Placeholder 2"/>
          <p:cNvSpPr txBox="1">
            <a:spLocks/>
          </p:cNvSpPr>
          <p:nvPr/>
        </p:nvSpPr>
        <p:spPr>
          <a:xfrm>
            <a:off x="677334" y="2064328"/>
            <a:ext cx="8596668" cy="439189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000" dirty="0">
              <a:solidFill>
                <a:schemeClr val="accent2">
                  <a:lumMod val="50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064327"/>
            <a:ext cx="8068801" cy="4353533"/>
          </a:xfrm>
          <a:prstGeom prst="rect">
            <a:avLst/>
          </a:prstGeom>
        </p:spPr>
      </p:pic>
    </p:spTree>
    <p:extLst>
      <p:ext uri="{BB962C8B-B14F-4D97-AF65-F5344CB8AC3E}">
        <p14:creationId xmlns:p14="http://schemas.microsoft.com/office/powerpoint/2010/main" val="19226616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3666" r="3666"/>
          <a:stretch>
            <a:fillRect/>
          </a:stretch>
        </p:blipFill>
        <p:spPr>
          <a:xfrm>
            <a:off x="746607" y="2535382"/>
            <a:ext cx="8596668" cy="3845718"/>
          </a:xfrm>
        </p:spPr>
      </p:pic>
      <p:sp>
        <p:nvSpPr>
          <p:cNvPr id="4" name="Text Placeholder 3"/>
          <p:cNvSpPr>
            <a:spLocks noGrp="1"/>
          </p:cNvSpPr>
          <p:nvPr>
            <p:ph type="body" sz="half" idx="2"/>
          </p:nvPr>
        </p:nvSpPr>
        <p:spPr>
          <a:xfrm>
            <a:off x="746608" y="443345"/>
            <a:ext cx="8596667" cy="2092037"/>
          </a:xfrm>
        </p:spPr>
        <p:txBody>
          <a:bodyPr>
            <a:noAutofit/>
          </a:bodyPr>
          <a:lstStyle/>
          <a:p>
            <a:r>
              <a:rPr lang="en-US" sz="2300" b="1" dirty="0">
                <a:solidFill>
                  <a:schemeClr val="accent2">
                    <a:lumMod val="50000"/>
                  </a:schemeClr>
                </a:solidFill>
              </a:rPr>
              <a:t>Admittedly the dataset is very massive and our computers can’t handle that level of calculations, so we will be taking a subset (even twice) to get a data we can work with we will be using the plugin “CytoNCA” to give us a frame of </a:t>
            </a:r>
            <a:r>
              <a:rPr lang="en-US" sz="2300" b="1" dirty="0" smtClean="0">
                <a:solidFill>
                  <a:schemeClr val="accent2">
                    <a:lumMod val="50000"/>
                  </a:schemeClr>
                </a:solidFill>
              </a:rPr>
              <a:t>reference on which node we will use to make the subset</a:t>
            </a:r>
            <a:endParaRPr lang="en-US" sz="2300" b="1" dirty="0">
              <a:solidFill>
                <a:schemeClr val="accent2">
                  <a:lumMod val="50000"/>
                </a:schemeClr>
              </a:solidFill>
            </a:endParaRPr>
          </a:p>
        </p:txBody>
      </p:sp>
    </p:spTree>
    <p:extLst>
      <p:ext uri="{BB962C8B-B14F-4D97-AF65-F5344CB8AC3E}">
        <p14:creationId xmlns:p14="http://schemas.microsoft.com/office/powerpoint/2010/main" val="15488018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p:cNvPicPr>
            <a:picLocks noGrp="1" noChangeAspect="1"/>
          </p:cNvPicPr>
          <p:nvPr>
            <p:ph type="pic" idx="1"/>
          </p:nvPr>
        </p:nvPicPr>
        <p:blipFill>
          <a:blip r:embed="rId2">
            <a:extLst>
              <a:ext uri="{28A0092B-C50C-407E-A947-70E740481C1C}">
                <a14:useLocalDpi xmlns:a14="http://schemas.microsoft.com/office/drawing/2010/main" val="0"/>
              </a:ext>
            </a:extLst>
          </a:blip>
          <a:srcRect l="1577" r="1577"/>
          <a:stretch>
            <a:fillRect/>
          </a:stretch>
        </p:blipFill>
        <p:spPr>
          <a:xfrm>
            <a:off x="4861408" y="462589"/>
            <a:ext cx="4646309" cy="25715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 Placeholder 3"/>
          <p:cNvSpPr>
            <a:spLocks noGrp="1"/>
          </p:cNvSpPr>
          <p:nvPr>
            <p:ph type="body" sz="half" idx="2"/>
          </p:nvPr>
        </p:nvSpPr>
        <p:spPr>
          <a:xfrm>
            <a:off x="760460" y="462589"/>
            <a:ext cx="3603722" cy="5686137"/>
          </a:xfrm>
        </p:spPr>
        <p:txBody>
          <a:bodyPr>
            <a:noAutofit/>
          </a:bodyPr>
          <a:lstStyle/>
          <a:p>
            <a:r>
              <a:rPr lang="en-US" sz="2400" b="1" dirty="0">
                <a:solidFill>
                  <a:schemeClr val="accent2">
                    <a:lumMod val="50000"/>
                  </a:schemeClr>
                </a:solidFill>
              </a:rPr>
              <a:t>After we are satisfied with our new </a:t>
            </a:r>
            <a:r>
              <a:rPr lang="en-US" sz="2400" b="1" dirty="0" smtClean="0">
                <a:solidFill>
                  <a:schemeClr val="accent2">
                    <a:lumMod val="50000"/>
                  </a:schemeClr>
                </a:solidFill>
              </a:rPr>
              <a:t>subNetwork </a:t>
            </a:r>
            <a:r>
              <a:rPr lang="en-US" sz="2400" b="1" dirty="0">
                <a:solidFill>
                  <a:schemeClr val="accent2">
                    <a:lumMod val="50000"/>
                  </a:schemeClr>
                </a:solidFill>
              </a:rPr>
              <a:t>we will extract the “edge table” into a CSV file and save it </a:t>
            </a:r>
            <a:r>
              <a:rPr lang="en-US" sz="2400" b="1" dirty="0" smtClean="0">
                <a:solidFill>
                  <a:schemeClr val="accent2">
                    <a:lumMod val="50000"/>
                  </a:schemeClr>
                </a:solidFill>
              </a:rPr>
              <a:t>a place where </a:t>
            </a:r>
            <a:r>
              <a:rPr lang="en-US" sz="2400" b="1" dirty="0">
                <a:solidFill>
                  <a:schemeClr val="accent2">
                    <a:lumMod val="50000"/>
                  </a:schemeClr>
                </a:solidFill>
              </a:rPr>
              <a:t>R can access it (we will store it in documents</a:t>
            </a:r>
            <a:r>
              <a:rPr lang="en-US" sz="2400" b="1" dirty="0" smtClean="0">
                <a:solidFill>
                  <a:schemeClr val="accent2">
                    <a:lumMod val="50000"/>
                  </a:schemeClr>
                </a:solidFill>
              </a:rPr>
              <a:t>) </a:t>
            </a:r>
          </a:p>
          <a:p>
            <a:r>
              <a:rPr lang="en-US" sz="2400" b="1" dirty="0">
                <a:solidFill>
                  <a:schemeClr val="accent2">
                    <a:lumMod val="50000"/>
                  </a:schemeClr>
                </a:solidFill>
              </a:rPr>
              <a:t>For now other than visualizing our dataset we are pretty much </a:t>
            </a:r>
            <a:r>
              <a:rPr lang="en-US" sz="2400" b="1" dirty="0" smtClean="0">
                <a:solidFill>
                  <a:schemeClr val="accent2">
                    <a:lumMod val="50000"/>
                  </a:schemeClr>
                </a:solidFill>
              </a:rPr>
              <a:t>done with </a:t>
            </a:r>
            <a:r>
              <a:rPr lang="en-US" sz="2400" b="1" dirty="0">
                <a:solidFill>
                  <a:schemeClr val="accent2">
                    <a:lumMod val="50000"/>
                  </a:schemeClr>
                </a:solidFill>
              </a:rPr>
              <a:t>Cytoscape and ready to move onto R </a:t>
            </a:r>
            <a:r>
              <a:rPr lang="en-US" sz="2400" b="1" dirty="0" smtClean="0">
                <a:solidFill>
                  <a:schemeClr val="accent2">
                    <a:lumMod val="50000"/>
                  </a:schemeClr>
                </a:solidFill>
              </a:rPr>
              <a:t>studio and its codes</a:t>
            </a:r>
            <a:endParaRPr lang="en-US" sz="2400" b="1" dirty="0">
              <a:solidFill>
                <a:schemeClr val="accent2">
                  <a:lumMod val="50000"/>
                </a:schemeClr>
              </a:solidFill>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440" y="3034147"/>
            <a:ext cx="4782243" cy="3114579"/>
          </a:xfrm>
          <a:prstGeom prst="rect">
            <a:avLst/>
          </a:prstGeom>
          <a:ln>
            <a:noFill/>
          </a:ln>
          <a:effectLst>
            <a:softEdge rad="112500"/>
          </a:effectLst>
        </p:spPr>
      </p:pic>
    </p:spTree>
    <p:extLst>
      <p:ext uri="{BB962C8B-B14F-4D97-AF65-F5344CB8AC3E}">
        <p14:creationId xmlns:p14="http://schemas.microsoft.com/office/powerpoint/2010/main" val="42771174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a:t>
            </a:r>
            <a:r>
              <a:rPr lang="en-US" b="1" dirty="0"/>
              <a:t>Code Discussion:</a:t>
            </a:r>
            <a:r>
              <a:rPr lang="en-US" dirty="0"/>
              <a:t/>
            </a:r>
            <a:br>
              <a:rPr lang="en-US" dirty="0"/>
            </a:br>
            <a:endParaRPr lang="en-US" dirty="0"/>
          </a:p>
        </p:txBody>
      </p:sp>
      <p:sp>
        <p:nvSpPr>
          <p:cNvPr id="5" name="Content Placeholder 4"/>
          <p:cNvSpPr>
            <a:spLocks noGrp="1"/>
          </p:cNvSpPr>
          <p:nvPr>
            <p:ph idx="1"/>
          </p:nvPr>
        </p:nvSpPr>
        <p:spPr>
          <a:xfrm>
            <a:off x="677334" y="1233055"/>
            <a:ext cx="8596668" cy="1039810"/>
          </a:xfrm>
        </p:spPr>
        <p:txBody>
          <a:bodyPr>
            <a:normAutofit/>
          </a:bodyPr>
          <a:lstStyle/>
          <a:p>
            <a:pPr marL="0" indent="0">
              <a:buNone/>
            </a:pPr>
            <a:r>
              <a:rPr lang="en-US" sz="2000" b="1" dirty="0">
                <a:solidFill>
                  <a:schemeClr val="accent2">
                    <a:lumMod val="50000"/>
                  </a:schemeClr>
                </a:solidFill>
              </a:rPr>
              <a:t>Since at the time we didn’t know we could just plainly export the CSV file we had to take some “Extreme measures” it being using the following libraries</a:t>
            </a:r>
            <a:endParaRPr lang="en-US" sz="2000" dirty="0">
              <a:solidFill>
                <a:schemeClr val="accent2">
                  <a:lumMod val="50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272864"/>
            <a:ext cx="8881393" cy="3490627"/>
          </a:xfrm>
          <a:prstGeom prst="rect">
            <a:avLst/>
          </a:prstGeom>
        </p:spPr>
      </p:pic>
    </p:spTree>
    <p:extLst>
      <p:ext uri="{BB962C8B-B14F-4D97-AF65-F5344CB8AC3E}">
        <p14:creationId xmlns:p14="http://schemas.microsoft.com/office/powerpoint/2010/main" val="27923319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a:t>
            </a:r>
            <a:r>
              <a:rPr lang="en-US" b="1" dirty="0" smtClean="0"/>
              <a:t>Code </a:t>
            </a:r>
            <a:r>
              <a:rPr lang="en-US" b="1" dirty="0"/>
              <a:t>Discussion:</a:t>
            </a:r>
            <a:r>
              <a:rPr lang="en-US" dirty="0"/>
              <a:t/>
            </a:r>
            <a:br>
              <a:rPr lang="en-US" dirty="0"/>
            </a:br>
            <a:endParaRPr lang="en-US" dirty="0"/>
          </a:p>
        </p:txBody>
      </p:sp>
      <p:sp>
        <p:nvSpPr>
          <p:cNvPr id="5" name="Content Placeholder 4"/>
          <p:cNvSpPr>
            <a:spLocks noGrp="1"/>
          </p:cNvSpPr>
          <p:nvPr>
            <p:ph idx="1"/>
          </p:nvPr>
        </p:nvSpPr>
        <p:spPr>
          <a:xfrm>
            <a:off x="677334" y="1233055"/>
            <a:ext cx="8596668" cy="1579418"/>
          </a:xfrm>
        </p:spPr>
        <p:txBody>
          <a:bodyPr>
            <a:noAutofit/>
          </a:bodyPr>
          <a:lstStyle/>
          <a:p>
            <a:pPr marL="0" indent="0">
              <a:buNone/>
            </a:pPr>
            <a:r>
              <a:rPr lang="en-US" sz="2400" b="1" dirty="0">
                <a:solidFill>
                  <a:schemeClr val="accent2">
                    <a:lumMod val="50000"/>
                  </a:schemeClr>
                </a:solidFill>
              </a:rPr>
              <a:t>Using Rcy3 package we were able to let R use and control Cytoscape as long as its open on the subnetwork view, we did that and were able to </a:t>
            </a:r>
            <a:r>
              <a:rPr lang="en-US" sz="2400" b="1" dirty="0" smtClean="0">
                <a:solidFill>
                  <a:schemeClr val="accent2">
                    <a:lumMod val="50000"/>
                  </a:schemeClr>
                </a:solidFill>
              </a:rPr>
              <a:t>extract/pull </a:t>
            </a:r>
            <a:r>
              <a:rPr lang="en-US" sz="2400" b="1" dirty="0">
                <a:solidFill>
                  <a:schemeClr val="accent2">
                    <a:lumMod val="50000"/>
                  </a:schemeClr>
                </a:solidFill>
              </a:rPr>
              <a:t>all the data we need from the dataset opened in Cytoscape as follows</a:t>
            </a:r>
            <a:endParaRPr lang="en-US" sz="2400" dirty="0">
              <a:solidFill>
                <a:schemeClr val="accent2">
                  <a:lumMod val="50000"/>
                </a:scheme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812473"/>
            <a:ext cx="9390266" cy="2313708"/>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334" y="5209309"/>
            <a:ext cx="2552700" cy="619125"/>
          </a:xfrm>
          <a:prstGeom prst="rect">
            <a:avLst/>
          </a:prstGeom>
        </p:spPr>
      </p:pic>
    </p:spTree>
    <p:extLst>
      <p:ext uri="{BB962C8B-B14F-4D97-AF65-F5344CB8AC3E}">
        <p14:creationId xmlns:p14="http://schemas.microsoft.com/office/powerpoint/2010/main" val="16488393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a:t>
            </a:r>
            <a:r>
              <a:rPr lang="en-US" b="1" dirty="0" smtClean="0"/>
              <a:t>Code </a:t>
            </a:r>
            <a:r>
              <a:rPr lang="en-US" b="1" dirty="0"/>
              <a:t>Discussion:</a:t>
            </a:r>
            <a:r>
              <a:rPr lang="en-US" dirty="0"/>
              <a:t/>
            </a:r>
            <a:br>
              <a:rPr lang="en-US" dirty="0"/>
            </a:br>
            <a:endParaRPr lang="en-US" dirty="0"/>
          </a:p>
        </p:txBody>
      </p:sp>
      <p:sp>
        <p:nvSpPr>
          <p:cNvPr id="5" name="Content Placeholder 4"/>
          <p:cNvSpPr>
            <a:spLocks noGrp="1"/>
          </p:cNvSpPr>
          <p:nvPr>
            <p:ph idx="1"/>
          </p:nvPr>
        </p:nvSpPr>
        <p:spPr>
          <a:xfrm>
            <a:off x="677334" y="1233055"/>
            <a:ext cx="8596668" cy="1565563"/>
          </a:xfrm>
        </p:spPr>
        <p:txBody>
          <a:bodyPr>
            <a:noAutofit/>
          </a:bodyPr>
          <a:lstStyle/>
          <a:p>
            <a:pPr marL="0" indent="0">
              <a:buNone/>
            </a:pPr>
            <a:r>
              <a:rPr lang="en-US" sz="2400" b="1" dirty="0">
                <a:solidFill>
                  <a:schemeClr val="accent2">
                    <a:lumMod val="50000"/>
                  </a:schemeClr>
                </a:solidFill>
              </a:rPr>
              <a:t>Then we will need to do some data cleaning in a way that R can easily get us the results we want using them it will be split into two parts one for the nodes and one for the </a:t>
            </a:r>
            <a:r>
              <a:rPr lang="en-US" sz="2400" b="1" dirty="0" smtClean="0">
                <a:solidFill>
                  <a:schemeClr val="accent2">
                    <a:lumMod val="50000"/>
                  </a:schemeClr>
                </a:solidFill>
              </a:rPr>
              <a:t>edge</a:t>
            </a:r>
            <a:endParaRPr lang="en-US" sz="2400" dirty="0">
              <a:solidFill>
                <a:schemeClr val="accent2">
                  <a:lumMod val="50000"/>
                </a:schemeClr>
              </a:solidFill>
            </a:endParaRPr>
          </a:p>
        </p:txBody>
      </p:sp>
      <p:sp>
        <p:nvSpPr>
          <p:cNvPr id="6" name="Content Placeholder 4"/>
          <p:cNvSpPr txBox="1">
            <a:spLocks/>
          </p:cNvSpPr>
          <p:nvPr/>
        </p:nvSpPr>
        <p:spPr>
          <a:xfrm>
            <a:off x="677334" y="3034145"/>
            <a:ext cx="8596668" cy="48490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2">
                    <a:lumMod val="50000"/>
                  </a:schemeClr>
                </a:solidFill>
              </a:rPr>
              <a:t>1. For the nodes</a:t>
            </a:r>
            <a:endParaRPr lang="en-US" sz="2400" dirty="0">
              <a:solidFill>
                <a:schemeClr val="accent2">
                  <a:lumMod val="50000"/>
                </a:scheme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3754581"/>
            <a:ext cx="10364739" cy="1856508"/>
          </a:xfrm>
          <a:prstGeom prst="rect">
            <a:avLst/>
          </a:prstGeom>
        </p:spPr>
      </p:pic>
    </p:spTree>
    <p:extLst>
      <p:ext uri="{BB962C8B-B14F-4D97-AF65-F5344CB8AC3E}">
        <p14:creationId xmlns:p14="http://schemas.microsoft.com/office/powerpoint/2010/main" val="31504632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a:t>
            </a:r>
            <a:r>
              <a:rPr lang="en-US" b="1" dirty="0" smtClean="0"/>
              <a:t>Code </a:t>
            </a:r>
            <a:r>
              <a:rPr lang="en-US" b="1" dirty="0"/>
              <a:t>Discussion:</a:t>
            </a:r>
            <a:r>
              <a:rPr lang="en-US" dirty="0"/>
              <a:t/>
            </a:r>
            <a:br>
              <a:rPr lang="en-US" dirty="0"/>
            </a:br>
            <a:endParaRPr lang="en-US" dirty="0"/>
          </a:p>
        </p:txBody>
      </p:sp>
      <p:sp>
        <p:nvSpPr>
          <p:cNvPr id="6" name="Content Placeholder 4"/>
          <p:cNvSpPr txBox="1">
            <a:spLocks/>
          </p:cNvSpPr>
          <p:nvPr/>
        </p:nvSpPr>
        <p:spPr>
          <a:xfrm>
            <a:off x="677334" y="1460513"/>
            <a:ext cx="8596668" cy="48490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smtClean="0">
                <a:solidFill>
                  <a:schemeClr val="accent2">
                    <a:lumMod val="50000"/>
                  </a:schemeClr>
                </a:solidFill>
              </a:rPr>
              <a:t>2</a:t>
            </a:r>
            <a:r>
              <a:rPr lang="en-US" sz="2400" b="1" dirty="0">
                <a:solidFill>
                  <a:schemeClr val="accent2">
                    <a:lumMod val="50000"/>
                  </a:schemeClr>
                </a:solidFill>
              </a:rPr>
              <a:t>.	Edges code </a:t>
            </a:r>
            <a:endParaRPr lang="en-US" sz="2400" dirty="0">
              <a:solidFill>
                <a:schemeClr val="accent2">
                  <a:lumMod val="50000"/>
                </a:schemeClr>
              </a:solidFill>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366842"/>
            <a:ext cx="9893803" cy="3174975"/>
          </a:xfrm>
        </p:spPr>
      </p:pic>
    </p:spTree>
    <p:extLst>
      <p:ext uri="{BB962C8B-B14F-4D97-AF65-F5344CB8AC3E}">
        <p14:creationId xmlns:p14="http://schemas.microsoft.com/office/powerpoint/2010/main" val="4393636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a:t>
            </a:r>
            <a:r>
              <a:rPr lang="en-US" b="1" dirty="0" smtClean="0"/>
              <a:t>Code </a:t>
            </a:r>
            <a:r>
              <a:rPr lang="en-US" b="1" dirty="0"/>
              <a:t>Discussion:</a:t>
            </a:r>
            <a:r>
              <a:rPr lang="en-US" dirty="0"/>
              <a:t/>
            </a:r>
            <a:br>
              <a:rPr lang="en-US" dirty="0"/>
            </a:br>
            <a:endParaRPr lang="en-US" dirty="0"/>
          </a:p>
        </p:txBody>
      </p:sp>
      <p:sp>
        <p:nvSpPr>
          <p:cNvPr id="6" name="Content Placeholder 4"/>
          <p:cNvSpPr txBox="1">
            <a:spLocks/>
          </p:cNvSpPr>
          <p:nvPr/>
        </p:nvSpPr>
        <p:spPr>
          <a:xfrm>
            <a:off x="677334" y="1233055"/>
            <a:ext cx="8596668" cy="147436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After the cleaning is done we then use the (</a:t>
            </a:r>
            <a:r>
              <a:rPr lang="en-US" sz="2400" b="1" dirty="0" err="1">
                <a:solidFill>
                  <a:schemeClr val="accent2">
                    <a:lumMod val="50000"/>
                  </a:schemeClr>
                </a:solidFill>
              </a:rPr>
              <a:t>igraph</a:t>
            </a:r>
            <a:r>
              <a:rPr lang="en-US" sz="2400" b="1" dirty="0">
                <a:solidFill>
                  <a:schemeClr val="accent2">
                    <a:lumMod val="50000"/>
                  </a:schemeClr>
                </a:solidFill>
              </a:rPr>
              <a:t>) library to import both data frames to make the g or (graph inside a variable g and g2) as well as getting 3 of the four attributes we wanted </a:t>
            </a:r>
            <a:endParaRPr lang="en-US" sz="2400" dirty="0">
              <a:solidFill>
                <a:schemeClr val="accent2">
                  <a:lumMod val="50000"/>
                </a:schemeClr>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824044"/>
            <a:ext cx="9082346" cy="3479774"/>
          </a:xfrm>
        </p:spPr>
      </p:pic>
    </p:spTree>
    <p:extLst>
      <p:ext uri="{BB962C8B-B14F-4D97-AF65-F5344CB8AC3E}">
        <p14:creationId xmlns:p14="http://schemas.microsoft.com/office/powerpoint/2010/main" val="13176909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a:t>
            </a:r>
            <a:r>
              <a:rPr lang="en-US" b="1" dirty="0" smtClean="0"/>
              <a:t>Code </a:t>
            </a:r>
            <a:r>
              <a:rPr lang="en-US" b="1" dirty="0"/>
              <a:t>Discussion:</a:t>
            </a:r>
            <a:r>
              <a:rPr lang="en-US" dirty="0"/>
              <a:t/>
            </a:r>
            <a:br>
              <a:rPr lang="en-US" dirty="0"/>
            </a:br>
            <a:endParaRPr lang="en-US" dirty="0"/>
          </a:p>
        </p:txBody>
      </p:sp>
      <p:sp>
        <p:nvSpPr>
          <p:cNvPr id="6" name="Content Placeholder 4"/>
          <p:cNvSpPr txBox="1">
            <a:spLocks/>
          </p:cNvSpPr>
          <p:nvPr/>
        </p:nvSpPr>
        <p:spPr>
          <a:xfrm>
            <a:off x="677334" y="1233054"/>
            <a:ext cx="8596668" cy="198120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accent2">
                    <a:lumMod val="50000"/>
                  </a:schemeClr>
                </a:solidFill>
              </a:rPr>
              <a:t>We have one last attribute that we </a:t>
            </a:r>
            <a:r>
              <a:rPr lang="en-US" sz="2000" b="1" dirty="0" smtClean="0">
                <a:solidFill>
                  <a:schemeClr val="accent2">
                    <a:lumMod val="50000"/>
                  </a:schemeClr>
                </a:solidFill>
              </a:rPr>
              <a:t>need </a:t>
            </a:r>
            <a:r>
              <a:rPr lang="en-US" sz="2000" b="1" dirty="0">
                <a:solidFill>
                  <a:schemeClr val="accent2">
                    <a:lumMod val="50000"/>
                  </a:schemeClr>
                </a:solidFill>
              </a:rPr>
              <a:t>to get which is the </a:t>
            </a:r>
            <a:r>
              <a:rPr lang="en-US" sz="2000" b="1" dirty="0" smtClean="0">
                <a:solidFill>
                  <a:schemeClr val="accent2">
                    <a:lumMod val="50000"/>
                  </a:schemeClr>
                </a:solidFill>
              </a:rPr>
              <a:t>Eigenvector </a:t>
            </a:r>
            <a:r>
              <a:rPr lang="en-US" sz="2000" b="1" dirty="0">
                <a:solidFill>
                  <a:schemeClr val="accent2">
                    <a:lumMod val="50000"/>
                  </a:schemeClr>
                </a:solidFill>
              </a:rPr>
              <a:t>we think using the provided command gives false results so we decided to do it by </a:t>
            </a:r>
            <a:r>
              <a:rPr lang="en-US" sz="2000" b="1" dirty="0" smtClean="0">
                <a:solidFill>
                  <a:schemeClr val="accent2">
                    <a:lumMod val="50000"/>
                  </a:schemeClr>
                </a:solidFill>
              </a:rPr>
              <a:t>ourselves, </a:t>
            </a:r>
            <a:r>
              <a:rPr lang="en-US" sz="2000" b="1" dirty="0">
                <a:solidFill>
                  <a:schemeClr val="accent2">
                    <a:lumMod val="50000"/>
                  </a:schemeClr>
                </a:solidFill>
              </a:rPr>
              <a:t>we did that by making the adjacency matrix of both </a:t>
            </a:r>
            <a:r>
              <a:rPr lang="en-US" sz="2000" b="1" dirty="0" smtClean="0">
                <a:solidFill>
                  <a:schemeClr val="accent2">
                    <a:lumMod val="50000"/>
                  </a:schemeClr>
                </a:solidFill>
              </a:rPr>
              <a:t>graphs and </a:t>
            </a:r>
            <a:r>
              <a:rPr lang="en-US" sz="2000" b="1" dirty="0">
                <a:solidFill>
                  <a:schemeClr val="accent2">
                    <a:lumMod val="50000"/>
                  </a:schemeClr>
                </a:solidFill>
              </a:rPr>
              <a:t>we imported their degrees into another matrix following the formula provided in the course we should get the final and correct </a:t>
            </a:r>
            <a:r>
              <a:rPr lang="en-US" sz="2000" b="1" dirty="0" smtClean="0">
                <a:solidFill>
                  <a:schemeClr val="accent2">
                    <a:lumMod val="50000"/>
                  </a:schemeClr>
                </a:solidFill>
              </a:rPr>
              <a:t>Eigenvector </a:t>
            </a:r>
            <a:r>
              <a:rPr lang="en-US" sz="2000" b="1" dirty="0">
                <a:solidFill>
                  <a:schemeClr val="accent2">
                    <a:lumMod val="50000"/>
                  </a:schemeClr>
                </a:solidFill>
              </a:rPr>
              <a:t>for both done as follows</a:t>
            </a:r>
            <a:endParaRPr lang="en-US" sz="2000" dirty="0">
              <a:solidFill>
                <a:schemeClr val="accent2">
                  <a:lumMod val="50000"/>
                </a:schemeClr>
              </a:solidFill>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3322672"/>
            <a:ext cx="8356094" cy="3036564"/>
          </a:xfrm>
        </p:spPr>
      </p:pic>
    </p:spTree>
    <p:extLst>
      <p:ext uri="{BB962C8B-B14F-4D97-AF65-F5344CB8AC3E}">
        <p14:creationId xmlns:p14="http://schemas.microsoft.com/office/powerpoint/2010/main" val="6795422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Results: </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5"/>
            <a:ext cx="8596668" cy="7481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b="1" dirty="0">
                <a:solidFill>
                  <a:schemeClr val="accent2">
                    <a:lumMod val="50000"/>
                  </a:schemeClr>
                </a:solidFill>
              </a:rPr>
              <a:t>After doing all of this we can </a:t>
            </a:r>
            <a:r>
              <a:rPr lang="en-US" sz="2000" b="1" dirty="0" smtClean="0">
                <a:solidFill>
                  <a:schemeClr val="accent2">
                    <a:lumMod val="50000"/>
                  </a:schemeClr>
                </a:solidFill>
              </a:rPr>
              <a:t>now </a:t>
            </a:r>
            <a:r>
              <a:rPr lang="en-US" sz="2000" b="1" dirty="0">
                <a:solidFill>
                  <a:schemeClr val="accent2">
                    <a:lumMod val="50000"/>
                  </a:schemeClr>
                </a:solidFill>
              </a:rPr>
              <a:t>comfortable export our results from R as follows </a:t>
            </a:r>
            <a:endParaRPr lang="en-US" sz="2000" dirty="0">
              <a:solidFill>
                <a:schemeClr val="accent2">
                  <a:lumMod val="50000"/>
                </a:schemeClr>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255845"/>
            <a:ext cx="8844348" cy="3548023"/>
          </a:xfrm>
        </p:spPr>
      </p:pic>
    </p:spTree>
    <p:extLst>
      <p:ext uri="{BB962C8B-B14F-4D97-AF65-F5344CB8AC3E}">
        <p14:creationId xmlns:p14="http://schemas.microsoft.com/office/powerpoint/2010/main" val="2272617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Results: </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5"/>
            <a:ext cx="8596668" cy="7481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Which will export to us these files (after converting them to excel files)</a:t>
            </a:r>
            <a:endParaRPr lang="en-US" sz="2400" dirty="0">
              <a:solidFill>
                <a:schemeClr val="accent2">
                  <a:lumMod val="50000"/>
                </a:schemeClr>
              </a:solidFill>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2133600"/>
            <a:ext cx="9768661" cy="1636131"/>
          </a:xfrm>
        </p:spPr>
      </p:pic>
      <p:sp>
        <p:nvSpPr>
          <p:cNvPr id="7" name="Content Placeholder 4"/>
          <p:cNvSpPr txBox="1">
            <a:spLocks/>
          </p:cNvSpPr>
          <p:nvPr/>
        </p:nvSpPr>
        <p:spPr>
          <a:xfrm>
            <a:off x="677334" y="4213075"/>
            <a:ext cx="8596668" cy="128717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smtClean="0">
                <a:solidFill>
                  <a:schemeClr val="accent2">
                    <a:lumMod val="50000"/>
                  </a:schemeClr>
                </a:solidFill>
              </a:rPr>
              <a:t>Before we go to </a:t>
            </a:r>
            <a:r>
              <a:rPr lang="en-US" sz="2400" b="1" dirty="0">
                <a:solidFill>
                  <a:schemeClr val="accent2">
                    <a:lumMod val="50000"/>
                  </a:schemeClr>
                </a:solidFill>
              </a:rPr>
              <a:t>our conclusion Let’s talk briefly about what each of the centralities mean given we are so close to us showcasing </a:t>
            </a:r>
            <a:r>
              <a:rPr lang="en-US" sz="2400" b="1" dirty="0" smtClean="0">
                <a:solidFill>
                  <a:schemeClr val="accent2">
                    <a:lumMod val="50000"/>
                  </a:schemeClr>
                </a:solidFill>
              </a:rPr>
              <a:t>our final </a:t>
            </a:r>
            <a:r>
              <a:rPr lang="en-US" sz="2400" b="1" dirty="0">
                <a:solidFill>
                  <a:schemeClr val="accent2">
                    <a:lumMod val="50000"/>
                  </a:schemeClr>
                </a:solidFill>
              </a:rPr>
              <a:t>results </a:t>
            </a:r>
            <a:endParaRPr lang="en-US" sz="2400" dirty="0">
              <a:solidFill>
                <a:schemeClr val="accent2">
                  <a:lumMod val="50000"/>
                </a:schemeClr>
              </a:solidFill>
            </a:endParaRPr>
          </a:p>
        </p:txBody>
      </p:sp>
    </p:spTree>
    <p:extLst>
      <p:ext uri="{BB962C8B-B14F-4D97-AF65-F5344CB8AC3E}">
        <p14:creationId xmlns:p14="http://schemas.microsoft.com/office/powerpoint/2010/main" val="12434344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4"/>
          </a:xfrm>
        </p:spPr>
        <p:txBody>
          <a:bodyPr>
            <a:normAutofit fontScale="90000"/>
          </a:bodyPr>
          <a:lstStyle/>
          <a:p>
            <a:r>
              <a:rPr lang="en-US" b="1" dirty="0" smtClean="0"/>
              <a:t>- Results(tangent)</a:t>
            </a:r>
            <a:endParaRPr lang="en-US" dirty="0"/>
          </a:p>
        </p:txBody>
      </p:sp>
      <p:sp>
        <p:nvSpPr>
          <p:cNvPr id="6" name="Content Placeholder 4"/>
          <p:cNvSpPr txBox="1">
            <a:spLocks/>
          </p:cNvSpPr>
          <p:nvPr/>
        </p:nvSpPr>
        <p:spPr>
          <a:xfrm>
            <a:off x="677334" y="1233054"/>
            <a:ext cx="8596668" cy="52647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accent2">
                    <a:lumMod val="50000"/>
                  </a:schemeClr>
                </a:solidFill>
              </a:rPr>
              <a:t>1.	Degree centrality </a:t>
            </a:r>
            <a:endParaRPr lang="en-US" sz="2800" dirty="0">
              <a:solidFill>
                <a:schemeClr val="accent2">
                  <a:lumMod val="50000"/>
                </a:schemeClr>
              </a:solidFill>
            </a:endParaRPr>
          </a:p>
        </p:txBody>
      </p:sp>
      <p:sp>
        <p:nvSpPr>
          <p:cNvPr id="2" name="Content Placeholder 1"/>
          <p:cNvSpPr>
            <a:spLocks noGrp="1"/>
          </p:cNvSpPr>
          <p:nvPr>
            <p:ph idx="1"/>
          </p:nvPr>
        </p:nvSpPr>
        <p:spPr>
          <a:xfrm>
            <a:off x="677334" y="2078723"/>
            <a:ext cx="8596668" cy="3880773"/>
          </a:xfrm>
        </p:spPr>
        <p:txBody>
          <a:bodyPr>
            <a:normAutofit/>
          </a:bodyPr>
          <a:lstStyle/>
          <a:p>
            <a:pPr marL="0" indent="0">
              <a:buNone/>
            </a:pPr>
            <a:r>
              <a:rPr lang="en-US" sz="3200" b="1" dirty="0" smtClean="0">
                <a:solidFill>
                  <a:schemeClr val="accent2">
                    <a:lumMod val="50000"/>
                  </a:schemeClr>
                </a:solidFill>
              </a:rPr>
              <a:t>Degree </a:t>
            </a:r>
            <a:r>
              <a:rPr lang="en-US" sz="3200" b="1" dirty="0">
                <a:solidFill>
                  <a:schemeClr val="accent2">
                    <a:lumMod val="50000"/>
                  </a:schemeClr>
                </a:solidFill>
              </a:rPr>
              <a:t>centrality is about how many direct connections a node has with other nodes meaning a node becomes more important based on how many connections it has, the greater the better!</a:t>
            </a:r>
          </a:p>
        </p:txBody>
      </p:sp>
    </p:spTree>
    <p:extLst>
      <p:ext uri="{BB962C8B-B14F-4D97-AF65-F5344CB8AC3E}">
        <p14:creationId xmlns:p14="http://schemas.microsoft.com/office/powerpoint/2010/main" val="42725038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4"/>
          </a:xfrm>
        </p:spPr>
        <p:txBody>
          <a:bodyPr>
            <a:normAutofit fontScale="90000"/>
          </a:bodyPr>
          <a:lstStyle/>
          <a:p>
            <a:r>
              <a:rPr lang="en-US" b="1" dirty="0" smtClean="0"/>
              <a:t>- Results(tangent)</a:t>
            </a:r>
            <a:endParaRPr lang="en-US" dirty="0"/>
          </a:p>
        </p:txBody>
      </p:sp>
      <p:sp>
        <p:nvSpPr>
          <p:cNvPr id="6" name="Content Placeholder 4"/>
          <p:cNvSpPr txBox="1">
            <a:spLocks/>
          </p:cNvSpPr>
          <p:nvPr/>
        </p:nvSpPr>
        <p:spPr>
          <a:xfrm>
            <a:off x="677334" y="1233054"/>
            <a:ext cx="8596668" cy="52647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smtClean="0">
                <a:solidFill>
                  <a:schemeClr val="accent2">
                    <a:lumMod val="50000"/>
                  </a:schemeClr>
                </a:solidFill>
              </a:rPr>
              <a:t>2</a:t>
            </a:r>
            <a:r>
              <a:rPr lang="en-US" sz="2800" b="1" dirty="0">
                <a:solidFill>
                  <a:schemeClr val="accent2">
                    <a:lumMod val="50000"/>
                  </a:schemeClr>
                </a:solidFill>
              </a:rPr>
              <a:t>.	Betweenness </a:t>
            </a:r>
            <a:r>
              <a:rPr lang="en-US" sz="2800" b="1" dirty="0" smtClean="0">
                <a:solidFill>
                  <a:schemeClr val="accent2">
                    <a:lumMod val="50000"/>
                  </a:schemeClr>
                </a:solidFill>
              </a:rPr>
              <a:t>centrality </a:t>
            </a:r>
            <a:endParaRPr lang="en-US" sz="2800" dirty="0">
              <a:solidFill>
                <a:schemeClr val="accent2">
                  <a:lumMod val="50000"/>
                </a:schemeClr>
              </a:solidFill>
            </a:endParaRPr>
          </a:p>
        </p:txBody>
      </p:sp>
      <p:sp>
        <p:nvSpPr>
          <p:cNvPr id="2" name="Content Placeholder 1"/>
          <p:cNvSpPr>
            <a:spLocks noGrp="1"/>
          </p:cNvSpPr>
          <p:nvPr>
            <p:ph idx="1"/>
          </p:nvPr>
        </p:nvSpPr>
        <p:spPr>
          <a:xfrm>
            <a:off x="677334" y="2078723"/>
            <a:ext cx="8596668" cy="3880773"/>
          </a:xfrm>
        </p:spPr>
        <p:txBody>
          <a:bodyPr>
            <a:normAutofit/>
          </a:bodyPr>
          <a:lstStyle/>
          <a:p>
            <a:pPr marL="0" indent="0">
              <a:buNone/>
            </a:pPr>
            <a:r>
              <a:rPr lang="en-US" sz="3200" b="1" dirty="0" smtClean="0">
                <a:solidFill>
                  <a:schemeClr val="accent2">
                    <a:lumMod val="50000"/>
                  </a:schemeClr>
                </a:solidFill>
              </a:rPr>
              <a:t>Betweenness </a:t>
            </a:r>
            <a:r>
              <a:rPr lang="en-US" sz="3200" b="1" dirty="0">
                <a:solidFill>
                  <a:schemeClr val="accent2">
                    <a:lumMod val="50000"/>
                  </a:schemeClr>
                </a:solidFill>
              </a:rPr>
              <a:t>centrality shows </a:t>
            </a:r>
            <a:r>
              <a:rPr lang="en-US" sz="3200" b="1" dirty="0" smtClean="0">
                <a:solidFill>
                  <a:schemeClr val="accent2">
                    <a:lumMod val="50000"/>
                  </a:schemeClr>
                </a:solidFill>
              </a:rPr>
              <a:t>us </a:t>
            </a:r>
            <a:r>
              <a:rPr lang="en-US" sz="3200" b="1" dirty="0">
                <a:solidFill>
                  <a:schemeClr val="accent2">
                    <a:lumMod val="50000"/>
                  </a:schemeClr>
                </a:solidFill>
              </a:rPr>
              <a:t>when trying to reach a node from another node, how frequent some nodes will be on that path, the more they show up in the path means </a:t>
            </a:r>
            <a:r>
              <a:rPr lang="en-US" sz="3200" b="1" dirty="0" smtClean="0">
                <a:solidFill>
                  <a:schemeClr val="accent2">
                    <a:lumMod val="50000"/>
                  </a:schemeClr>
                </a:solidFill>
              </a:rPr>
              <a:t>some of the </a:t>
            </a:r>
            <a:r>
              <a:rPr lang="en-US" sz="3200" b="1" dirty="0">
                <a:solidFill>
                  <a:schemeClr val="accent2">
                    <a:lumMod val="50000"/>
                  </a:schemeClr>
                </a:solidFill>
              </a:rPr>
              <a:t>other </a:t>
            </a:r>
            <a:r>
              <a:rPr lang="en-US" sz="3200" b="1" dirty="0" smtClean="0">
                <a:solidFill>
                  <a:schemeClr val="accent2">
                    <a:lumMod val="50000"/>
                  </a:schemeClr>
                </a:solidFill>
              </a:rPr>
              <a:t>nodes </a:t>
            </a:r>
            <a:r>
              <a:rPr lang="en-US" sz="3200" b="1" dirty="0">
                <a:solidFill>
                  <a:schemeClr val="accent2">
                    <a:lumMod val="50000"/>
                  </a:schemeClr>
                </a:solidFill>
              </a:rPr>
              <a:t>are more likely to use that path as will making that node more important </a:t>
            </a:r>
          </a:p>
        </p:txBody>
      </p:sp>
    </p:spTree>
    <p:extLst>
      <p:ext uri="{BB962C8B-B14F-4D97-AF65-F5344CB8AC3E}">
        <p14:creationId xmlns:p14="http://schemas.microsoft.com/office/powerpoint/2010/main" val="38752640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4"/>
          </a:xfrm>
        </p:spPr>
        <p:txBody>
          <a:bodyPr>
            <a:normAutofit fontScale="90000"/>
          </a:bodyPr>
          <a:lstStyle/>
          <a:p>
            <a:r>
              <a:rPr lang="en-US" b="1" dirty="0" smtClean="0"/>
              <a:t>- Results(tangent)</a:t>
            </a:r>
            <a:endParaRPr lang="en-US" dirty="0"/>
          </a:p>
        </p:txBody>
      </p:sp>
      <p:sp>
        <p:nvSpPr>
          <p:cNvPr id="6" name="Content Placeholder 4"/>
          <p:cNvSpPr txBox="1">
            <a:spLocks/>
          </p:cNvSpPr>
          <p:nvPr/>
        </p:nvSpPr>
        <p:spPr>
          <a:xfrm>
            <a:off x="677334" y="1233054"/>
            <a:ext cx="8596668" cy="52647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accent2">
                    <a:lumMod val="50000"/>
                  </a:schemeClr>
                </a:solidFill>
              </a:rPr>
              <a:t>3.	Closeness centrality </a:t>
            </a:r>
            <a:endParaRPr lang="en-US" sz="2800" dirty="0">
              <a:solidFill>
                <a:schemeClr val="accent2">
                  <a:lumMod val="50000"/>
                </a:schemeClr>
              </a:solidFill>
            </a:endParaRPr>
          </a:p>
        </p:txBody>
      </p:sp>
      <p:sp>
        <p:nvSpPr>
          <p:cNvPr id="2" name="Content Placeholder 1"/>
          <p:cNvSpPr>
            <a:spLocks noGrp="1"/>
          </p:cNvSpPr>
          <p:nvPr>
            <p:ph idx="1"/>
          </p:nvPr>
        </p:nvSpPr>
        <p:spPr>
          <a:xfrm>
            <a:off x="677334" y="2078723"/>
            <a:ext cx="8596668" cy="3880773"/>
          </a:xfrm>
        </p:spPr>
        <p:txBody>
          <a:bodyPr>
            <a:normAutofit/>
          </a:bodyPr>
          <a:lstStyle/>
          <a:p>
            <a:pPr marL="0" indent="0">
              <a:buNone/>
            </a:pPr>
            <a:r>
              <a:rPr lang="en-US" sz="3200" b="1" dirty="0" smtClean="0">
                <a:solidFill>
                  <a:schemeClr val="accent2">
                    <a:lumMod val="50000"/>
                  </a:schemeClr>
                </a:solidFill>
              </a:rPr>
              <a:t>Closeness </a:t>
            </a:r>
            <a:r>
              <a:rPr lang="en-US" sz="3200" b="1" dirty="0">
                <a:solidFill>
                  <a:schemeClr val="accent2">
                    <a:lumMod val="50000"/>
                  </a:schemeClr>
                </a:solidFill>
              </a:rPr>
              <a:t>centrality shows us how much are some nodes are like bridges between clusters of nodes, meaning if a node has low closeness that would account into them being closer to most of the network parts making them a reliable path for the entire node</a:t>
            </a:r>
          </a:p>
        </p:txBody>
      </p:sp>
    </p:spTree>
    <p:extLst>
      <p:ext uri="{BB962C8B-B14F-4D97-AF65-F5344CB8AC3E}">
        <p14:creationId xmlns:p14="http://schemas.microsoft.com/office/powerpoint/2010/main" val="5403438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4"/>
          </a:xfrm>
        </p:spPr>
        <p:txBody>
          <a:bodyPr>
            <a:normAutofit fontScale="90000"/>
          </a:bodyPr>
          <a:lstStyle/>
          <a:p>
            <a:r>
              <a:rPr lang="en-US" b="1" dirty="0" smtClean="0"/>
              <a:t>- Results(tangent)</a:t>
            </a:r>
            <a:endParaRPr lang="en-US" dirty="0"/>
          </a:p>
        </p:txBody>
      </p:sp>
      <p:sp>
        <p:nvSpPr>
          <p:cNvPr id="6" name="Content Placeholder 4"/>
          <p:cNvSpPr txBox="1">
            <a:spLocks/>
          </p:cNvSpPr>
          <p:nvPr/>
        </p:nvSpPr>
        <p:spPr>
          <a:xfrm>
            <a:off x="677334" y="1233054"/>
            <a:ext cx="8596668" cy="52647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accent2">
                    <a:lumMod val="50000"/>
                  </a:schemeClr>
                </a:solidFill>
              </a:rPr>
              <a:t>4.	Eigenvector centrality</a:t>
            </a:r>
            <a:endParaRPr lang="en-US" sz="2800" dirty="0">
              <a:solidFill>
                <a:schemeClr val="accent2">
                  <a:lumMod val="50000"/>
                </a:schemeClr>
              </a:solidFill>
            </a:endParaRPr>
          </a:p>
        </p:txBody>
      </p:sp>
      <p:sp>
        <p:nvSpPr>
          <p:cNvPr id="2" name="Content Placeholder 1"/>
          <p:cNvSpPr>
            <a:spLocks noGrp="1"/>
          </p:cNvSpPr>
          <p:nvPr>
            <p:ph idx="1"/>
          </p:nvPr>
        </p:nvSpPr>
        <p:spPr>
          <a:xfrm>
            <a:off x="677334" y="2078723"/>
            <a:ext cx="8596668" cy="3880773"/>
          </a:xfrm>
        </p:spPr>
        <p:txBody>
          <a:bodyPr>
            <a:normAutofit/>
          </a:bodyPr>
          <a:lstStyle/>
          <a:p>
            <a:pPr marL="0" indent="0">
              <a:buNone/>
            </a:pPr>
            <a:r>
              <a:rPr lang="en-US" sz="3200" b="1" dirty="0" smtClean="0">
                <a:solidFill>
                  <a:schemeClr val="accent2">
                    <a:lumMod val="50000"/>
                  </a:schemeClr>
                </a:solidFill>
              </a:rPr>
              <a:t>Eigenvector </a:t>
            </a:r>
            <a:r>
              <a:rPr lang="en-US" sz="3200" b="1" dirty="0">
                <a:solidFill>
                  <a:schemeClr val="accent2">
                    <a:lumMod val="50000"/>
                  </a:schemeClr>
                </a:solidFill>
              </a:rPr>
              <a:t>centrality is the importance of a node based on </a:t>
            </a:r>
            <a:r>
              <a:rPr lang="en-US" sz="3200" b="1" dirty="0" smtClean="0">
                <a:solidFill>
                  <a:schemeClr val="accent2">
                    <a:lumMod val="50000"/>
                  </a:schemeClr>
                </a:solidFill>
              </a:rPr>
              <a:t>many </a:t>
            </a:r>
            <a:r>
              <a:rPr lang="en-US" sz="3200" b="1" dirty="0">
                <a:solidFill>
                  <a:schemeClr val="accent2">
                    <a:lumMod val="50000"/>
                  </a:schemeClr>
                </a:solidFill>
              </a:rPr>
              <a:t>a node has a connection with other high degree nodes spreading their influence more over that </a:t>
            </a:r>
            <a:r>
              <a:rPr lang="en-US" sz="3200" b="1" dirty="0" smtClean="0">
                <a:solidFill>
                  <a:schemeClr val="accent2">
                    <a:lumMod val="50000"/>
                  </a:schemeClr>
                </a:solidFill>
              </a:rPr>
              <a:t>network</a:t>
            </a:r>
            <a:endParaRPr lang="en-US" sz="3200" b="1" dirty="0">
              <a:solidFill>
                <a:schemeClr val="accent2">
                  <a:lumMod val="50000"/>
                </a:schemeClr>
              </a:solidFill>
            </a:endParaRPr>
          </a:p>
        </p:txBody>
      </p:sp>
    </p:spTree>
    <p:extLst>
      <p:ext uri="{BB962C8B-B14F-4D97-AF65-F5344CB8AC3E}">
        <p14:creationId xmlns:p14="http://schemas.microsoft.com/office/powerpoint/2010/main" val="34877002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Results: </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5"/>
            <a:ext cx="8596668" cy="7481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For the degree centrality (the higher the number the more important a node is) </a:t>
            </a:r>
            <a:endParaRPr lang="en-US" sz="2400" dirty="0">
              <a:solidFill>
                <a:schemeClr val="accent2">
                  <a:lumMod val="50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303980"/>
            <a:ext cx="4422405" cy="4027547"/>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7361" y="2303980"/>
            <a:ext cx="3966641" cy="4151673"/>
          </a:xfrm>
          <a:prstGeom prst="rect">
            <a:avLst/>
          </a:prstGeom>
        </p:spPr>
      </p:pic>
    </p:spTree>
    <p:extLst>
      <p:ext uri="{BB962C8B-B14F-4D97-AF65-F5344CB8AC3E}">
        <p14:creationId xmlns:p14="http://schemas.microsoft.com/office/powerpoint/2010/main" val="16938151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Results: </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5"/>
            <a:ext cx="8596668" cy="7481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For the betweenness centrality (the higher the number the more important a node is)</a:t>
            </a:r>
            <a:endParaRPr lang="en-US" sz="2400" dirty="0">
              <a:solidFill>
                <a:schemeClr val="accent2">
                  <a:lumMod val="50000"/>
                </a:scheme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051" y="2315225"/>
            <a:ext cx="4491549" cy="415789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1767" y="2315225"/>
            <a:ext cx="4903825" cy="4157891"/>
          </a:xfrm>
          <a:prstGeom prst="rect">
            <a:avLst/>
          </a:prstGeom>
        </p:spPr>
      </p:pic>
    </p:spTree>
    <p:extLst>
      <p:ext uri="{BB962C8B-B14F-4D97-AF65-F5344CB8AC3E}">
        <p14:creationId xmlns:p14="http://schemas.microsoft.com/office/powerpoint/2010/main" val="38729328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Results: </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5"/>
            <a:ext cx="8596668" cy="11776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For </a:t>
            </a:r>
            <a:r>
              <a:rPr lang="en-US" sz="2400" b="1" dirty="0" smtClean="0">
                <a:solidFill>
                  <a:schemeClr val="accent2">
                    <a:lumMod val="50000"/>
                  </a:schemeClr>
                </a:solidFill>
              </a:rPr>
              <a:t>the closeness </a:t>
            </a:r>
            <a:r>
              <a:rPr lang="en-US" sz="2400" b="1" dirty="0">
                <a:solidFill>
                  <a:schemeClr val="accent2">
                    <a:lumMod val="50000"/>
                  </a:schemeClr>
                </a:solidFill>
              </a:rPr>
              <a:t>centrality (the smaller the number the more important a node is) </a:t>
            </a:r>
            <a:r>
              <a:rPr lang="en-US" sz="2400" b="1" dirty="0" smtClean="0">
                <a:solidFill>
                  <a:schemeClr val="accent2">
                    <a:lumMod val="50000"/>
                  </a:schemeClr>
                </a:solidFill>
              </a:rPr>
              <a:t>  NA means no connation so there will be </a:t>
            </a:r>
            <a:r>
              <a:rPr lang="en-US" sz="2400" b="1" dirty="0">
                <a:solidFill>
                  <a:schemeClr val="accent2">
                    <a:lumMod val="50000"/>
                  </a:schemeClr>
                </a:solidFill>
              </a:rPr>
              <a:t>closeness (</a:t>
            </a:r>
            <a:r>
              <a:rPr lang="en-US" sz="3200" b="1" dirty="0" smtClean="0">
                <a:solidFill>
                  <a:schemeClr val="accent2">
                    <a:lumMod val="50000"/>
                  </a:schemeClr>
                </a:solidFill>
              </a:rPr>
              <a:t>∞</a:t>
            </a:r>
            <a:r>
              <a:rPr lang="en-US" sz="2400" b="1" dirty="0" smtClean="0">
                <a:solidFill>
                  <a:schemeClr val="accent2">
                    <a:lumMod val="50000"/>
                  </a:schemeClr>
                </a:solidFill>
              </a:rPr>
              <a:t>)</a:t>
            </a:r>
            <a:endParaRPr lang="en-US" sz="2400" dirty="0">
              <a:solidFill>
                <a:schemeClr val="accent2">
                  <a:lumMod val="50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604656"/>
            <a:ext cx="8596668" cy="3559102"/>
          </a:xfrm>
          <a:prstGeom prst="rect">
            <a:avLst/>
          </a:prstGeom>
        </p:spPr>
      </p:pic>
    </p:spTree>
    <p:extLst>
      <p:ext uri="{BB962C8B-B14F-4D97-AF65-F5344CB8AC3E}">
        <p14:creationId xmlns:p14="http://schemas.microsoft.com/office/powerpoint/2010/main" val="39904430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smtClean="0"/>
              <a:t>- Results: </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5"/>
            <a:ext cx="8596668" cy="74814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For the eigenvector centrality (the higher the number the more important a node is) </a:t>
            </a:r>
            <a:endParaRPr lang="en-US" sz="2400" dirty="0">
              <a:solidFill>
                <a:schemeClr val="accent2">
                  <a:lumMod val="50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292079"/>
            <a:ext cx="8965430" cy="4259276"/>
          </a:xfrm>
          <a:prstGeom prst="rect">
            <a:avLst/>
          </a:prstGeom>
        </p:spPr>
      </p:pic>
    </p:spTree>
    <p:extLst>
      <p:ext uri="{BB962C8B-B14F-4D97-AF65-F5344CB8AC3E}">
        <p14:creationId xmlns:p14="http://schemas.microsoft.com/office/powerpoint/2010/main" val="25073891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Conclusion:</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4"/>
            <a:ext cx="4739793" cy="383771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a:solidFill>
                  <a:schemeClr val="accent2">
                    <a:lumMod val="50000"/>
                  </a:schemeClr>
                </a:solidFill>
              </a:rPr>
              <a:t>these </a:t>
            </a:r>
            <a:r>
              <a:rPr lang="en-US" sz="2400" b="1" dirty="0" smtClean="0">
                <a:solidFill>
                  <a:schemeClr val="accent2">
                    <a:lumMod val="50000"/>
                  </a:schemeClr>
                </a:solidFill>
              </a:rPr>
              <a:t>results shows </a:t>
            </a:r>
            <a:r>
              <a:rPr lang="en-US" sz="2400" b="1" dirty="0">
                <a:solidFill>
                  <a:schemeClr val="accent2">
                    <a:lumMod val="50000"/>
                  </a:schemeClr>
                </a:solidFill>
              </a:rPr>
              <a:t>us that the node(protein) </a:t>
            </a:r>
            <a:r>
              <a:rPr lang="en-US" sz="2400" b="1" dirty="0" smtClean="0">
                <a:solidFill>
                  <a:schemeClr val="accent2">
                    <a:lumMod val="50000"/>
                  </a:schemeClr>
                </a:solidFill>
              </a:rPr>
              <a:t>TP53(the yellow) </a:t>
            </a:r>
            <a:r>
              <a:rPr lang="en-US" sz="2400" b="1" dirty="0">
                <a:solidFill>
                  <a:schemeClr val="accent2">
                    <a:lumMod val="50000"/>
                  </a:schemeClr>
                </a:solidFill>
              </a:rPr>
              <a:t>is one of the most important proteins in our body it having a high centrality score means </a:t>
            </a:r>
            <a:r>
              <a:rPr lang="en-US" sz="2400" b="1" dirty="0" smtClean="0">
                <a:solidFill>
                  <a:schemeClr val="accent2">
                    <a:lumMod val="50000"/>
                  </a:schemeClr>
                </a:solidFill>
              </a:rPr>
              <a:t>it plays </a:t>
            </a:r>
            <a:r>
              <a:rPr lang="en-US" sz="2400" b="1" dirty="0">
                <a:solidFill>
                  <a:schemeClr val="accent2">
                    <a:lumMod val="50000"/>
                  </a:schemeClr>
                </a:solidFill>
              </a:rPr>
              <a:t>a very big role in our protein network which in turn helps us fight off a multitude of viruses and diseases</a:t>
            </a:r>
            <a:endParaRPr lang="en-US" sz="2400" dirty="0">
              <a:solidFill>
                <a:schemeClr val="accent2">
                  <a:lumMod val="50000"/>
                </a:schemeClr>
              </a:solidFill>
            </a:endParaRPr>
          </a:p>
        </p:txBody>
      </p:sp>
      <p:sp>
        <p:nvSpPr>
          <p:cNvPr id="7" name="Content Placeholder 4"/>
          <p:cNvSpPr txBox="1">
            <a:spLocks/>
          </p:cNvSpPr>
          <p:nvPr/>
        </p:nvSpPr>
        <p:spPr>
          <a:xfrm>
            <a:off x="677334" y="5070765"/>
            <a:ext cx="7843211" cy="128847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smtClean="0">
                <a:solidFill>
                  <a:schemeClr val="accent2">
                    <a:lumMod val="50000"/>
                  </a:schemeClr>
                </a:solidFill>
              </a:rPr>
              <a:t>And with that we reach the end of our project most of the files will be linked below so you can download them and see the results yourself </a:t>
            </a:r>
            <a:r>
              <a:rPr lang="en-US" sz="2400" b="1" dirty="0" smtClean="0">
                <a:solidFill>
                  <a:schemeClr val="accent2">
                    <a:lumMod val="50000"/>
                  </a:schemeClr>
                </a:solidFill>
                <a:hlinkClick r:id="rId2"/>
              </a:rPr>
              <a:t>HERE!</a:t>
            </a:r>
            <a:endParaRPr lang="en-US" sz="2400" b="1" dirty="0" smtClean="0">
              <a:solidFill>
                <a:schemeClr val="accent2">
                  <a:lumMod val="50000"/>
                </a:schemeClr>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0344" y="748144"/>
            <a:ext cx="5215357" cy="408709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417456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7334" y="609600"/>
            <a:ext cx="8596668" cy="623455"/>
          </a:xfrm>
        </p:spPr>
        <p:txBody>
          <a:bodyPr>
            <a:normAutofit fontScale="90000"/>
          </a:bodyPr>
          <a:lstStyle/>
          <a:p>
            <a:r>
              <a:rPr lang="en-US" b="1" dirty="0"/>
              <a:t>- Conclusion:</a:t>
            </a:r>
            <a:r>
              <a:rPr lang="en-US" dirty="0"/>
              <a:t/>
            </a:r>
            <a:br>
              <a:rPr lang="en-US" dirty="0"/>
            </a:br>
            <a:r>
              <a:rPr lang="en-US" dirty="0"/>
              <a:t/>
            </a:r>
            <a:br>
              <a:rPr lang="en-US" dirty="0"/>
            </a:br>
            <a:endParaRPr lang="en-US" dirty="0"/>
          </a:p>
        </p:txBody>
      </p:sp>
      <p:sp>
        <p:nvSpPr>
          <p:cNvPr id="6" name="Content Placeholder 4"/>
          <p:cNvSpPr txBox="1">
            <a:spLocks/>
          </p:cNvSpPr>
          <p:nvPr/>
        </p:nvSpPr>
        <p:spPr>
          <a:xfrm>
            <a:off x="677334" y="1233054"/>
            <a:ext cx="4739793" cy="117763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smtClean="0">
                <a:solidFill>
                  <a:schemeClr val="accent2">
                    <a:lumMod val="50000"/>
                  </a:schemeClr>
                </a:solidFill>
              </a:rPr>
              <a:t>And if we were to look up that protein gene we will find the following</a:t>
            </a:r>
            <a:endParaRPr lang="en-US" sz="2400" dirty="0">
              <a:solidFill>
                <a:schemeClr val="accent2">
                  <a:lumMod val="50000"/>
                </a:schemeClr>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0344" y="748144"/>
            <a:ext cx="5215357" cy="4087091"/>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3"/>
          <a:stretch>
            <a:fillRect/>
          </a:stretch>
        </p:blipFill>
        <p:spPr>
          <a:xfrm>
            <a:off x="343789" y="2666997"/>
            <a:ext cx="4948648" cy="2168238"/>
          </a:xfrm>
          <a:prstGeom prst="rect">
            <a:avLst/>
          </a:prstGeom>
        </p:spPr>
      </p:pic>
      <p:sp>
        <p:nvSpPr>
          <p:cNvPr id="8" name="Content Placeholder 4"/>
          <p:cNvSpPr txBox="1">
            <a:spLocks/>
          </p:cNvSpPr>
          <p:nvPr/>
        </p:nvSpPr>
        <p:spPr>
          <a:xfrm>
            <a:off x="343788" y="5091540"/>
            <a:ext cx="10471913" cy="117763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400" b="1" dirty="0" smtClean="0">
                <a:solidFill>
                  <a:schemeClr val="accent2">
                    <a:lumMod val="50000"/>
                  </a:schemeClr>
                </a:solidFill>
              </a:rPr>
              <a:t>Confirming the legitimacy of our project results   </a:t>
            </a:r>
            <a:endParaRPr lang="en-US" sz="2400" dirty="0">
              <a:solidFill>
                <a:schemeClr val="accent2">
                  <a:lumMod val="50000"/>
                </a:schemeClr>
              </a:solidFill>
            </a:endParaRPr>
          </a:p>
        </p:txBody>
      </p:sp>
    </p:spTree>
    <p:extLst>
      <p:ext uri="{BB962C8B-B14F-4D97-AF65-F5344CB8AC3E}">
        <p14:creationId xmlns:p14="http://schemas.microsoft.com/office/powerpoint/2010/main" val="16794920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226" y="401966"/>
            <a:ext cx="8596668" cy="581891"/>
          </a:xfrm>
        </p:spPr>
        <p:txBody>
          <a:bodyPr>
            <a:normAutofit fontScale="90000"/>
          </a:bodyPr>
          <a:lstStyle/>
          <a:p>
            <a:r>
              <a:rPr lang="en-US" dirty="0" smtClean="0"/>
              <a:t>Team </a:t>
            </a:r>
            <a:r>
              <a:rPr lang="en-US" dirty="0" smtClean="0"/>
              <a:t>members: Team number 26</a:t>
            </a:r>
            <a:endParaRPr lang="en-US" dirty="0"/>
          </a:p>
        </p:txBody>
      </p:sp>
      <p:sp>
        <p:nvSpPr>
          <p:cNvPr id="3" name="Content Placeholder 2"/>
          <p:cNvSpPr>
            <a:spLocks noGrp="1"/>
          </p:cNvSpPr>
          <p:nvPr>
            <p:ph idx="1"/>
          </p:nvPr>
        </p:nvSpPr>
        <p:spPr>
          <a:xfrm>
            <a:off x="497226" y="955964"/>
            <a:ext cx="8596668" cy="415636"/>
          </a:xfrm>
        </p:spPr>
        <p:txBody>
          <a:bodyPr>
            <a:normAutofit/>
          </a:bodyPr>
          <a:lstStyle/>
          <a:p>
            <a:pPr marL="0" indent="0">
              <a:buNone/>
            </a:pPr>
            <a:r>
              <a:rPr lang="en-US" sz="2000" b="1" dirty="0">
                <a:solidFill>
                  <a:schemeClr val="accent2">
                    <a:lumMod val="50000"/>
                  </a:schemeClr>
                </a:solidFill>
              </a:rPr>
              <a:t>The students who worked </a:t>
            </a:r>
            <a:r>
              <a:rPr lang="en-US" sz="2000" b="1" dirty="0" smtClean="0">
                <a:solidFill>
                  <a:schemeClr val="accent2">
                    <a:lumMod val="50000"/>
                  </a:schemeClr>
                </a:solidFill>
              </a:rPr>
              <a:t>on </a:t>
            </a:r>
            <a:r>
              <a:rPr lang="en-US" sz="2000" b="1" dirty="0">
                <a:solidFill>
                  <a:schemeClr val="accent2">
                    <a:lumMod val="50000"/>
                  </a:schemeClr>
                </a:solidFill>
              </a:rPr>
              <a:t>this project are:</a:t>
            </a:r>
            <a:endParaRPr lang="en-US" sz="2000" dirty="0">
              <a:solidFill>
                <a:schemeClr val="accent2">
                  <a:lumMod val="50000"/>
                </a:schemeClr>
              </a:solidFill>
            </a:endParaRPr>
          </a:p>
        </p:txBody>
      </p:sp>
      <p:sp>
        <p:nvSpPr>
          <p:cNvPr id="12" name="TextBox 11"/>
          <p:cNvSpPr txBox="1"/>
          <p:nvPr/>
        </p:nvSpPr>
        <p:spPr>
          <a:xfrm>
            <a:off x="497226" y="1371600"/>
            <a:ext cx="6346920" cy="5632311"/>
          </a:xfrm>
          <a:prstGeom prst="rect">
            <a:avLst/>
          </a:prstGeom>
          <a:noFill/>
        </p:spPr>
        <p:txBody>
          <a:bodyPr wrap="square" rtlCol="0">
            <a:spAutoFit/>
          </a:bodyPr>
          <a:lstStyle/>
          <a:p>
            <a:pPr lvl="0"/>
            <a:r>
              <a:rPr lang="en-US" b="1" dirty="0"/>
              <a:t>Ahmed Mirghani Ahmed Elmakki 22011502: </a:t>
            </a:r>
            <a:endParaRPr lang="en-US" b="1" dirty="0" smtClean="0"/>
          </a:p>
          <a:p>
            <a:pPr lvl="0"/>
            <a:r>
              <a:rPr lang="en-US" b="1" dirty="0" smtClean="0"/>
              <a:t>Data </a:t>
            </a:r>
            <a:r>
              <a:rPr lang="en-US" b="1" dirty="0"/>
              <a:t>cleaning and Code writing and Report </a:t>
            </a:r>
            <a:r>
              <a:rPr lang="en-US" b="1" dirty="0" smtClean="0"/>
              <a:t>writing</a:t>
            </a:r>
          </a:p>
          <a:p>
            <a:r>
              <a:rPr lang="en-US" b="1" dirty="0"/>
              <a:t>Second year</a:t>
            </a:r>
          </a:p>
          <a:p>
            <a:pPr lvl="0"/>
            <a:endParaRPr lang="en-US" dirty="0"/>
          </a:p>
          <a:p>
            <a:pPr lvl="0"/>
            <a:r>
              <a:rPr lang="en-US" b="1" dirty="0"/>
              <a:t>Ahmed Hussein Hassan </a:t>
            </a:r>
            <a:r>
              <a:rPr lang="en-US" b="1" dirty="0" smtClean="0"/>
              <a:t>dewdar </a:t>
            </a:r>
          </a:p>
          <a:p>
            <a:r>
              <a:rPr lang="en-US" b="1" dirty="0"/>
              <a:t>20225926030</a:t>
            </a:r>
            <a:r>
              <a:rPr lang="en-US" b="1" dirty="0" smtClean="0"/>
              <a:t>: Code assistant </a:t>
            </a:r>
          </a:p>
          <a:p>
            <a:r>
              <a:rPr lang="en-US" b="1" dirty="0"/>
              <a:t>Second </a:t>
            </a:r>
            <a:r>
              <a:rPr lang="en-US" b="1" dirty="0" smtClean="0"/>
              <a:t>year</a:t>
            </a:r>
          </a:p>
          <a:p>
            <a:endParaRPr lang="en-US" dirty="0"/>
          </a:p>
          <a:p>
            <a:pPr lvl="0"/>
            <a:r>
              <a:rPr lang="en-US" b="1" dirty="0"/>
              <a:t>Hamza Hussain Yousef </a:t>
            </a:r>
            <a:r>
              <a:rPr lang="en-US" b="1" dirty="0" err="1" smtClean="0"/>
              <a:t>Omran</a:t>
            </a:r>
            <a:endParaRPr lang="en-US" b="1" dirty="0" smtClean="0"/>
          </a:p>
          <a:p>
            <a:pPr lvl="0"/>
            <a:r>
              <a:rPr lang="en-US" b="1" dirty="0" smtClean="0"/>
              <a:t>22011501:Data set selection and management</a:t>
            </a:r>
          </a:p>
          <a:p>
            <a:r>
              <a:rPr lang="en-US" b="1" dirty="0" smtClean="0"/>
              <a:t>Second year </a:t>
            </a:r>
            <a:endParaRPr lang="en-US" b="1" dirty="0"/>
          </a:p>
          <a:p>
            <a:pPr lvl="0"/>
            <a:endParaRPr lang="en-US" dirty="0" smtClean="0"/>
          </a:p>
          <a:p>
            <a:pPr lvl="0"/>
            <a:r>
              <a:rPr lang="en-US" b="1" dirty="0"/>
              <a:t>Abdul </a:t>
            </a:r>
            <a:r>
              <a:rPr lang="en-US" b="1" dirty="0" smtClean="0"/>
              <a:t>Rahman alrimali</a:t>
            </a:r>
          </a:p>
          <a:p>
            <a:r>
              <a:rPr lang="en-US" b="1" dirty="0" smtClean="0"/>
              <a:t>22011460:</a:t>
            </a:r>
            <a:r>
              <a:rPr lang="en-US" b="1" dirty="0"/>
              <a:t>Data cleaning </a:t>
            </a:r>
            <a:r>
              <a:rPr lang="en-US" b="1" dirty="0" smtClean="0"/>
              <a:t>assistant</a:t>
            </a:r>
          </a:p>
          <a:p>
            <a:r>
              <a:rPr lang="en-US" b="1" dirty="0"/>
              <a:t>Second </a:t>
            </a:r>
            <a:r>
              <a:rPr lang="en-US" b="1" dirty="0" smtClean="0"/>
              <a:t>year</a:t>
            </a:r>
            <a:endParaRPr lang="en-US" b="1" dirty="0"/>
          </a:p>
          <a:p>
            <a:pPr lvl="0"/>
            <a:endParaRPr lang="en-US" dirty="0"/>
          </a:p>
          <a:p>
            <a:pPr lvl="0"/>
            <a:r>
              <a:rPr lang="ar-SA" b="1" dirty="0"/>
              <a:t>خالد ربيع عبدالجواد</a:t>
            </a:r>
            <a:endParaRPr lang="en-US" b="1" dirty="0" smtClean="0"/>
          </a:p>
          <a:p>
            <a:r>
              <a:rPr lang="en-US" b="1" dirty="0" smtClean="0"/>
              <a:t>22010332:</a:t>
            </a:r>
            <a:r>
              <a:rPr lang="en-US" b="1" dirty="0"/>
              <a:t>dataset </a:t>
            </a:r>
            <a:r>
              <a:rPr lang="en-US" b="1" dirty="0" smtClean="0"/>
              <a:t>assistant</a:t>
            </a:r>
          </a:p>
          <a:p>
            <a:r>
              <a:rPr lang="en-US" b="1" dirty="0"/>
              <a:t>Second year</a:t>
            </a:r>
          </a:p>
          <a:p>
            <a:endParaRPr lang="en-US" b="1" dirty="0"/>
          </a:p>
        </p:txBody>
      </p:sp>
      <p:sp>
        <p:nvSpPr>
          <p:cNvPr id="14" name="TextBox 13"/>
          <p:cNvSpPr txBox="1"/>
          <p:nvPr/>
        </p:nvSpPr>
        <p:spPr>
          <a:xfrm>
            <a:off x="6192982" y="1537855"/>
            <a:ext cx="4822921" cy="5078313"/>
          </a:xfrm>
          <a:prstGeom prst="rect">
            <a:avLst/>
          </a:prstGeom>
          <a:noFill/>
        </p:spPr>
        <p:txBody>
          <a:bodyPr wrap="square" rtlCol="0">
            <a:spAutoFit/>
          </a:bodyPr>
          <a:lstStyle/>
          <a:p>
            <a:pPr lvl="0"/>
            <a:r>
              <a:rPr lang="en-US" b="1" dirty="0" smtClean="0"/>
              <a:t>Samy Adel </a:t>
            </a:r>
            <a:r>
              <a:rPr lang="en-US" b="1" dirty="0"/>
              <a:t>Ali </a:t>
            </a:r>
            <a:endParaRPr lang="en-US" b="1" dirty="0" smtClean="0"/>
          </a:p>
          <a:p>
            <a:pPr lvl="0"/>
            <a:r>
              <a:rPr lang="en-US" b="1" dirty="0" smtClean="0"/>
              <a:t>22010107: </a:t>
            </a:r>
          </a:p>
          <a:p>
            <a:pPr lvl="0"/>
            <a:r>
              <a:rPr lang="en-US" b="1" dirty="0" smtClean="0"/>
              <a:t>Team </a:t>
            </a:r>
            <a:r>
              <a:rPr lang="en-US" b="1" dirty="0"/>
              <a:t>management and role distribution </a:t>
            </a:r>
            <a:endParaRPr lang="en-US" b="1" dirty="0" smtClean="0"/>
          </a:p>
          <a:p>
            <a:pPr lvl="0"/>
            <a:r>
              <a:rPr lang="en-US" b="1" dirty="0" smtClean="0"/>
              <a:t>Second year</a:t>
            </a:r>
          </a:p>
          <a:p>
            <a:pPr lvl="0"/>
            <a:endParaRPr lang="en-US" b="1" dirty="0"/>
          </a:p>
          <a:p>
            <a:r>
              <a:rPr lang="en-US" b="1" dirty="0"/>
              <a:t>Ahmed Taha </a:t>
            </a:r>
            <a:r>
              <a:rPr lang="en-US" b="1" dirty="0" smtClean="0"/>
              <a:t>Mohamed</a:t>
            </a:r>
            <a:endParaRPr lang="en-US" b="1" dirty="0"/>
          </a:p>
          <a:p>
            <a:r>
              <a:rPr lang="en-US" b="1" dirty="0" smtClean="0"/>
              <a:t>22010315: </a:t>
            </a:r>
            <a:r>
              <a:rPr lang="en-US" b="1" dirty="0"/>
              <a:t>Code </a:t>
            </a:r>
            <a:r>
              <a:rPr lang="en-US" b="1" dirty="0" smtClean="0"/>
              <a:t>assistant</a:t>
            </a:r>
          </a:p>
          <a:p>
            <a:r>
              <a:rPr lang="en-US" b="1" dirty="0"/>
              <a:t>Second year</a:t>
            </a:r>
          </a:p>
          <a:p>
            <a:endParaRPr lang="en-US" b="1" dirty="0"/>
          </a:p>
          <a:p>
            <a:r>
              <a:rPr lang="en-US" b="1" dirty="0"/>
              <a:t>Kareem Mohammed Samy </a:t>
            </a:r>
            <a:r>
              <a:rPr lang="en-US" b="1" dirty="0" smtClean="0"/>
              <a:t>Aboshady</a:t>
            </a:r>
          </a:p>
          <a:p>
            <a:r>
              <a:rPr lang="en-US" b="1" dirty="0" smtClean="0"/>
              <a:t>22010378: </a:t>
            </a:r>
            <a:r>
              <a:rPr lang="en-US" b="1" dirty="0"/>
              <a:t>project </a:t>
            </a:r>
            <a:r>
              <a:rPr lang="en-US" b="1" dirty="0" smtClean="0"/>
              <a:t>preparation</a:t>
            </a:r>
          </a:p>
          <a:p>
            <a:r>
              <a:rPr lang="en-US" b="1" dirty="0"/>
              <a:t>Second year</a:t>
            </a:r>
          </a:p>
          <a:p>
            <a:endParaRPr lang="en-US" b="1" dirty="0"/>
          </a:p>
          <a:p>
            <a:r>
              <a:rPr lang="en-US" b="1" dirty="0"/>
              <a:t>Mohamed Ramadan </a:t>
            </a:r>
            <a:r>
              <a:rPr lang="en-US" b="1" dirty="0" smtClean="0"/>
              <a:t>Ibrahim</a:t>
            </a:r>
          </a:p>
          <a:p>
            <a:r>
              <a:rPr lang="en-US" b="1" dirty="0" smtClean="0"/>
              <a:t>20221372306: </a:t>
            </a:r>
            <a:r>
              <a:rPr lang="en-US" b="1" dirty="0"/>
              <a:t>project </a:t>
            </a:r>
            <a:r>
              <a:rPr lang="en-US" b="1" dirty="0" smtClean="0"/>
              <a:t>preparation</a:t>
            </a:r>
          </a:p>
          <a:p>
            <a:r>
              <a:rPr lang="en-US" b="1" dirty="0" smtClean="0"/>
              <a:t>Third year</a:t>
            </a:r>
          </a:p>
          <a:p>
            <a:endParaRPr lang="en-US" b="1" dirty="0"/>
          </a:p>
          <a:p>
            <a:endParaRPr lang="en-US" b="1" dirty="0"/>
          </a:p>
        </p:txBody>
      </p:sp>
    </p:spTree>
    <p:extLst>
      <p:ext uri="{BB962C8B-B14F-4D97-AF65-F5344CB8AC3E}">
        <p14:creationId xmlns:p14="http://schemas.microsoft.com/office/powerpoint/2010/main" val="3209667282"/>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272</TotalTime>
  <Words>1423</Words>
  <Application>Microsoft Office PowerPoint</Application>
  <PresentationFormat>Widescreen</PresentationFormat>
  <Paragraphs>110</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Tahoma</vt:lpstr>
      <vt:lpstr>Trebuchet MS</vt:lpstr>
      <vt:lpstr>Wingdings</vt:lpstr>
      <vt:lpstr>Wingdings 3</vt:lpstr>
      <vt:lpstr>Facet</vt:lpstr>
      <vt:lpstr>Social network analysis on proteins interactions in the human body</vt:lpstr>
      <vt:lpstr>- Aim: </vt:lpstr>
      <vt:lpstr>- Materials and tools we used for this project are:</vt:lpstr>
      <vt:lpstr>- What will the programs do:</vt:lpstr>
      <vt:lpstr>- Keep in mind!</vt:lpstr>
      <vt:lpstr>- What the input of the program will be?</vt:lpstr>
      <vt:lpstr>- What the output of the programs will be?</vt:lpstr>
      <vt:lpstr>Our project steps and methods</vt:lpstr>
      <vt:lpstr>PowerPoint Presentation</vt:lpstr>
      <vt:lpstr>PowerPoint Presentation</vt:lpstr>
      <vt:lpstr>- Code Discussion: </vt:lpstr>
      <vt:lpstr>- Code Discussion: </vt:lpstr>
      <vt:lpstr>- Code Discussion: </vt:lpstr>
      <vt:lpstr>- Code Discussion: </vt:lpstr>
      <vt:lpstr>- Code Discussion: </vt:lpstr>
      <vt:lpstr>- Code Discussion: </vt:lpstr>
      <vt:lpstr>- Results:   </vt:lpstr>
      <vt:lpstr>- Results:   </vt:lpstr>
      <vt:lpstr>- Results(tangent)</vt:lpstr>
      <vt:lpstr>- Results(tangent)</vt:lpstr>
      <vt:lpstr>- Results(tangent)</vt:lpstr>
      <vt:lpstr>- Results(tangent)</vt:lpstr>
      <vt:lpstr>- Results:   </vt:lpstr>
      <vt:lpstr>- Results:   </vt:lpstr>
      <vt:lpstr>- Results:   </vt:lpstr>
      <vt:lpstr>- Results:   </vt:lpstr>
      <vt:lpstr>- Conclusion:  </vt:lpstr>
      <vt:lpstr>- Conclusion:  </vt:lpstr>
      <vt:lpstr>Team members: Team number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network analysis on proteins interactions in the human body</dc:title>
  <dc:creator>احمد ميرغنى احمد المكى</dc:creator>
  <cp:lastModifiedBy>احمد ميرغنى احمد المكى</cp:lastModifiedBy>
  <cp:revision>75</cp:revision>
  <dcterms:created xsi:type="dcterms:W3CDTF">2023-12-14T21:50:48Z</dcterms:created>
  <dcterms:modified xsi:type="dcterms:W3CDTF">2023-12-15T12:04:19Z</dcterms:modified>
</cp:coreProperties>
</file>